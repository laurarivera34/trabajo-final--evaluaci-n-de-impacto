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8" r:id="rId2"/>
    <p:sldId id="322" r:id="rId3"/>
    <p:sldId id="323" r:id="rId4"/>
    <p:sldId id="324" r:id="rId5"/>
    <p:sldId id="338" r:id="rId6"/>
    <p:sldId id="325" r:id="rId7"/>
    <p:sldId id="326" r:id="rId8"/>
    <p:sldId id="339" r:id="rId9"/>
    <p:sldId id="340" r:id="rId10"/>
    <p:sldId id="337" r:id="rId11"/>
    <p:sldId id="328" r:id="rId12"/>
    <p:sldId id="330" r:id="rId13"/>
    <p:sldId id="332" r:id="rId14"/>
    <p:sldId id="333" r:id="rId15"/>
    <p:sldId id="331" r:id="rId16"/>
    <p:sldId id="334" r:id="rId17"/>
    <p:sldId id="336" r:id="rId18"/>
    <p:sldId id="341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hnson, Nancy (IFPRI-Collaborator/Consultant)" initials="JN(C" lastIdx="3" clrIdx="0">
    <p:extLst>
      <p:ext uri="{19B8F6BF-5375-455C-9EA6-DF929625EA0E}">
        <p15:presenceInfo xmlns:p15="http://schemas.microsoft.com/office/powerpoint/2012/main" userId="S::n.johnson@cgiar.org::a703b1d4-aa7c-4362-947c-fb17f76fafa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90" d="100"/>
          <a:sy n="90" d="100"/>
        </p:scale>
        <p:origin x="-156" y="-11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39CA-A0CC-4713-8C1E-D498C12C8EEC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D7DEA-41C6-43B1-972A-A76588DD890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1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2FB5817-C7F7-4CCB-A89F-1307ACAD2875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4" name="Rectangle 3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9009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7"/>
          <p:cNvSpPr txBox="1">
            <a:spLocks noGrp="1"/>
          </p:cNvSpPr>
          <p:nvPr>
            <p:ph type="ctrTitle"/>
          </p:nvPr>
        </p:nvSpPr>
        <p:spPr>
          <a:xfrm>
            <a:off x="3047996" y="3124203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8"/>
          <p:cNvSpPr txBox="1">
            <a:spLocks noGrp="1"/>
          </p:cNvSpPr>
          <p:nvPr>
            <p:ph type="subTitle" idx="1"/>
          </p:nvPr>
        </p:nvSpPr>
        <p:spPr>
          <a:xfrm>
            <a:off x="3047996" y="5003322"/>
            <a:ext cx="82296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rgbClr val="5B6973"/>
                </a:solidFill>
              </a:defRPr>
            </a:lvl1pPr>
          </a:lstStyle>
          <a:p>
            <a:pPr lvl="0"/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27"/>
          <p:cNvSpPr txBox="1">
            <a:spLocks noGrp="1"/>
          </p:cNvSpPr>
          <p:nvPr>
            <p:ph type="dt" sz="half" idx="7"/>
          </p:nvPr>
        </p:nvSpPr>
        <p:spPr>
          <a:xfrm rot="5400013">
            <a:off x="10733830" y="1110593"/>
            <a:ext cx="2286000" cy="508004"/>
          </a:xfrm>
        </p:spPr>
        <p:txBody>
          <a:bodyPr/>
          <a:lstStyle>
            <a:lvl1pPr>
              <a:defRPr/>
            </a:lvl1pPr>
          </a:lstStyle>
          <a:p>
            <a:pPr lvl="0"/>
            <a:fld id="{555409A4-FDDD-4999-AB5B-6B042E4C23D3}" type="datetime1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16"/>
          <p:cNvSpPr txBox="1">
            <a:spLocks noGrp="1"/>
          </p:cNvSpPr>
          <p:nvPr>
            <p:ph type="ftr" sz="quarter" idx="9"/>
          </p:nvPr>
        </p:nvSpPr>
        <p:spPr>
          <a:xfrm rot="5400013">
            <a:off x="10045955" y="4117662"/>
            <a:ext cx="3657600" cy="512064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Rectangle 9"/>
          <p:cNvSpPr/>
          <p:nvPr/>
        </p:nvSpPr>
        <p:spPr>
          <a:xfrm>
            <a:off x="508004" y="0"/>
            <a:ext cx="812801" cy="6858000"/>
          </a:xfrm>
          <a:prstGeom prst="rect">
            <a:avLst/>
          </a:prstGeom>
          <a:solidFill>
            <a:srgbClr val="CAE0AC">
              <a:alpha val="54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7" name="Rectangle 11"/>
          <p:cNvSpPr/>
          <p:nvPr/>
        </p:nvSpPr>
        <p:spPr>
          <a:xfrm>
            <a:off x="368448" y="0"/>
            <a:ext cx="139555" cy="6858000"/>
          </a:xfrm>
          <a:prstGeom prst="rect">
            <a:avLst/>
          </a:prstGeom>
          <a:solidFill>
            <a:srgbClr val="DDEBCC">
              <a:alpha val="36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8" name="Rectangle 13"/>
          <p:cNvSpPr/>
          <p:nvPr/>
        </p:nvSpPr>
        <p:spPr>
          <a:xfrm>
            <a:off x="1320795" y="0"/>
            <a:ext cx="242498" cy="6858000"/>
          </a:xfrm>
          <a:prstGeom prst="rect">
            <a:avLst/>
          </a:prstGeom>
          <a:solidFill>
            <a:srgbClr val="DDEBCC">
              <a:alpha val="70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9" name="Rectangle 18"/>
          <p:cNvSpPr/>
          <p:nvPr/>
        </p:nvSpPr>
        <p:spPr>
          <a:xfrm>
            <a:off x="1521762" y="0"/>
            <a:ext cx="307037" cy="6858000"/>
          </a:xfrm>
          <a:prstGeom prst="rect">
            <a:avLst/>
          </a:prstGeom>
          <a:solidFill>
            <a:srgbClr val="EFF5E8">
              <a:alpha val="71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0" name="Connecteur droit 10"/>
          <p:cNvSpPr/>
          <p:nvPr/>
        </p:nvSpPr>
        <p:spPr>
          <a:xfrm>
            <a:off x="141796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>
                <a:alpha val="73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1" name="Connecteur droit 17"/>
          <p:cNvSpPr/>
          <p:nvPr/>
        </p:nvSpPr>
        <p:spPr>
          <a:xfrm>
            <a:off x="1219196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EFF5E8">
                <a:alpha val="83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2" name="Connecteur droit 19"/>
          <p:cNvSpPr/>
          <p:nvPr/>
        </p:nvSpPr>
        <p:spPr>
          <a:xfrm>
            <a:off x="1138812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3" name="Connecteur droit 15"/>
          <p:cNvSpPr/>
          <p:nvPr/>
        </p:nvSpPr>
        <p:spPr>
          <a:xfrm>
            <a:off x="2302184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8575">
            <a:solidFill>
              <a:srgbClr val="CAE0AC">
                <a:alpha val="82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4" name="Connecteur droit 14"/>
          <p:cNvSpPr/>
          <p:nvPr/>
        </p:nvSpPr>
        <p:spPr>
          <a:xfrm>
            <a:off x="1422404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5" name="Connecteur droit 21"/>
          <p:cNvSpPr/>
          <p:nvPr/>
        </p:nvSpPr>
        <p:spPr>
          <a:xfrm>
            <a:off x="12151809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6" name="Rectangle 26"/>
          <p:cNvSpPr/>
          <p:nvPr/>
        </p:nvSpPr>
        <p:spPr>
          <a:xfrm>
            <a:off x="1625602" y="0"/>
            <a:ext cx="101598" cy="6858000"/>
          </a:xfrm>
          <a:prstGeom prst="rect">
            <a:avLst/>
          </a:prstGeom>
          <a:solidFill>
            <a:srgbClr val="CAE0AC">
              <a:alpha val="51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7" name="Ellipse 20"/>
          <p:cNvSpPr/>
          <p:nvPr/>
        </p:nvSpPr>
        <p:spPr>
          <a:xfrm>
            <a:off x="812801" y="3429000"/>
            <a:ext cx="1727201" cy="129540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8" name="Ellipse 22"/>
          <p:cNvSpPr/>
          <p:nvPr/>
        </p:nvSpPr>
        <p:spPr>
          <a:xfrm>
            <a:off x="1746174" y="4866747"/>
            <a:ext cx="855229" cy="64142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9" name="Ellipse 23"/>
          <p:cNvSpPr/>
          <p:nvPr/>
        </p:nvSpPr>
        <p:spPr>
          <a:xfrm>
            <a:off x="1454773" y="5500628"/>
            <a:ext cx="182880" cy="137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20" name="Ellipse 25"/>
          <p:cNvSpPr/>
          <p:nvPr/>
        </p:nvSpPr>
        <p:spPr>
          <a:xfrm>
            <a:off x="2218947" y="5788152"/>
            <a:ext cx="36576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21" name="Ellipse 24"/>
          <p:cNvSpPr/>
          <p:nvPr/>
        </p:nvSpPr>
        <p:spPr>
          <a:xfrm>
            <a:off x="2540002" y="4495803"/>
            <a:ext cx="487676" cy="3657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22" name="Espace réservé du numéro de diapositive 28"/>
          <p:cNvSpPr txBox="1">
            <a:spLocks noGrp="1"/>
          </p:cNvSpPr>
          <p:nvPr>
            <p:ph type="sldNum" sz="quarter" idx="8"/>
          </p:nvPr>
        </p:nvSpPr>
        <p:spPr>
          <a:xfrm>
            <a:off x="1767388" y="4928698"/>
            <a:ext cx="812801" cy="517522"/>
          </a:xfrm>
        </p:spPr>
        <p:txBody>
          <a:bodyPr/>
          <a:lstStyle>
            <a:lvl1pPr>
              <a:defRPr/>
            </a:lvl1pPr>
          </a:lstStyle>
          <a:p>
            <a:pPr lvl="0"/>
            <a:fld id="{4583566A-5A19-46CB-853F-B62502F4CC82}" type="slidenum"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781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7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437D8C-9C3B-40D1-B976-F2E45D09A24B}" type="datetime1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numéro de diapositive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38240A-9816-4AC4-8056-C99BBEDE9E36}" type="slidenum">
              <a:t>‹Nº›</a:t>
            </a:fld>
            <a:endParaRPr lang="fr-FR"/>
          </a:p>
        </p:txBody>
      </p:sp>
      <p:sp>
        <p:nvSpPr>
          <p:cNvPr id="6" name="Espace réservé du pied de page 9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8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rgbClr val="5B69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3047996" y="2895603"/>
            <a:ext cx="8229600" cy="2053586"/>
          </a:xfrm>
        </p:spPr>
        <p:txBody>
          <a:bodyPr/>
          <a:lstStyle>
            <a:lvl1pPr>
              <a:defRPr b="1">
                <a:solidFill>
                  <a:srgbClr val="E7ECED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idx="1"/>
          </p:nvPr>
        </p:nvSpPr>
        <p:spPr>
          <a:xfrm>
            <a:off x="3047996" y="5010153"/>
            <a:ext cx="82296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rgbClr val="E7ECED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 txBox="1">
            <a:spLocks noGrp="1"/>
          </p:cNvSpPr>
          <p:nvPr>
            <p:ph type="dt" sz="half" idx="7"/>
          </p:nvPr>
        </p:nvSpPr>
        <p:spPr>
          <a:xfrm rot="5400013">
            <a:off x="10732011" y="1106926"/>
            <a:ext cx="2286000" cy="508004"/>
          </a:xfrm>
        </p:spPr>
        <p:txBody>
          <a:bodyPr/>
          <a:lstStyle>
            <a:lvl1pPr>
              <a:defRPr>
                <a:solidFill>
                  <a:srgbClr val="E7ECED"/>
                </a:solidFill>
              </a:defRPr>
            </a:lvl1pPr>
          </a:lstStyle>
          <a:p>
            <a:pPr lvl="0"/>
            <a:fld id="{F8EB5F45-8B17-4031-932E-F0C8E4867997}" type="datetime1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/>
          <p:cNvSpPr txBox="1">
            <a:spLocks noGrp="1"/>
          </p:cNvSpPr>
          <p:nvPr>
            <p:ph type="ftr" sz="quarter" idx="9"/>
          </p:nvPr>
        </p:nvSpPr>
        <p:spPr>
          <a:xfrm rot="5400013">
            <a:off x="10046211" y="4114800"/>
            <a:ext cx="3657600" cy="512064"/>
          </a:xfrm>
        </p:spPr>
        <p:txBody>
          <a:bodyPr/>
          <a:lstStyle>
            <a:lvl1pPr>
              <a:defRPr>
                <a:solidFill>
                  <a:srgbClr val="E7ECED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6" name="Rectangle 8"/>
          <p:cNvSpPr/>
          <p:nvPr/>
        </p:nvSpPr>
        <p:spPr>
          <a:xfrm>
            <a:off x="508004" y="0"/>
            <a:ext cx="812801" cy="6858000"/>
          </a:xfrm>
          <a:prstGeom prst="rect">
            <a:avLst/>
          </a:prstGeom>
          <a:solidFill>
            <a:srgbClr val="CAE0AC">
              <a:alpha val="54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7" name="Rectangle 9"/>
          <p:cNvSpPr/>
          <p:nvPr/>
        </p:nvSpPr>
        <p:spPr>
          <a:xfrm>
            <a:off x="368448" y="0"/>
            <a:ext cx="139555" cy="6858000"/>
          </a:xfrm>
          <a:prstGeom prst="rect">
            <a:avLst/>
          </a:prstGeom>
          <a:solidFill>
            <a:srgbClr val="DDEBCC">
              <a:alpha val="36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8" name="Rectangle 10"/>
          <p:cNvSpPr/>
          <p:nvPr/>
        </p:nvSpPr>
        <p:spPr>
          <a:xfrm>
            <a:off x="1320795" y="0"/>
            <a:ext cx="242498" cy="6858000"/>
          </a:xfrm>
          <a:prstGeom prst="rect">
            <a:avLst/>
          </a:prstGeom>
          <a:solidFill>
            <a:srgbClr val="DDEBCC">
              <a:alpha val="70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9" name="Rectangle 11"/>
          <p:cNvSpPr/>
          <p:nvPr/>
        </p:nvSpPr>
        <p:spPr>
          <a:xfrm>
            <a:off x="1521762" y="0"/>
            <a:ext cx="307037" cy="6858000"/>
          </a:xfrm>
          <a:prstGeom prst="rect">
            <a:avLst/>
          </a:prstGeom>
          <a:solidFill>
            <a:srgbClr val="EFF5E8">
              <a:alpha val="71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0" name="Connecteur droit 12"/>
          <p:cNvSpPr/>
          <p:nvPr/>
        </p:nvSpPr>
        <p:spPr>
          <a:xfrm>
            <a:off x="141796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>
                <a:alpha val="73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1" name="Connecteur droit 13"/>
          <p:cNvSpPr/>
          <p:nvPr/>
        </p:nvSpPr>
        <p:spPr>
          <a:xfrm>
            <a:off x="1219196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EFF5E8">
                <a:alpha val="83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2" name="Connecteur droit 14"/>
          <p:cNvSpPr/>
          <p:nvPr/>
        </p:nvSpPr>
        <p:spPr>
          <a:xfrm>
            <a:off x="1138812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3" name="Connecteur droit 15"/>
          <p:cNvSpPr/>
          <p:nvPr/>
        </p:nvSpPr>
        <p:spPr>
          <a:xfrm>
            <a:off x="2302184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28575">
            <a:solidFill>
              <a:srgbClr val="CAE0AC">
                <a:alpha val="82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4" name="Connecteur droit 16"/>
          <p:cNvSpPr/>
          <p:nvPr/>
        </p:nvSpPr>
        <p:spPr>
          <a:xfrm>
            <a:off x="1422404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1625602" y="0"/>
            <a:ext cx="101598" cy="6858000"/>
          </a:xfrm>
          <a:prstGeom prst="rect">
            <a:avLst/>
          </a:prstGeom>
          <a:solidFill>
            <a:srgbClr val="CAE0AC">
              <a:alpha val="51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6" name="Ellipse 18"/>
          <p:cNvSpPr/>
          <p:nvPr/>
        </p:nvSpPr>
        <p:spPr>
          <a:xfrm>
            <a:off x="812801" y="3429000"/>
            <a:ext cx="1727201" cy="1295403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7" name="Ellipse 19"/>
          <p:cNvSpPr/>
          <p:nvPr/>
        </p:nvSpPr>
        <p:spPr>
          <a:xfrm>
            <a:off x="1766273" y="4866747"/>
            <a:ext cx="855229" cy="64142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8" name="Ellipse 20"/>
          <p:cNvSpPr/>
          <p:nvPr/>
        </p:nvSpPr>
        <p:spPr>
          <a:xfrm>
            <a:off x="1454773" y="5500628"/>
            <a:ext cx="182880" cy="1371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9" name="Ellipse 21"/>
          <p:cNvSpPr/>
          <p:nvPr/>
        </p:nvSpPr>
        <p:spPr>
          <a:xfrm>
            <a:off x="2218947" y="5791196"/>
            <a:ext cx="365760" cy="27432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20" name="Ellipse 22"/>
          <p:cNvSpPr/>
          <p:nvPr/>
        </p:nvSpPr>
        <p:spPr>
          <a:xfrm>
            <a:off x="2505382" y="4479892"/>
            <a:ext cx="487676" cy="36576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21" name="Connecteur droit 25"/>
          <p:cNvSpPr/>
          <p:nvPr/>
        </p:nvSpPr>
        <p:spPr>
          <a:xfrm>
            <a:off x="12130594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22" name="Espace réservé du numéro de diapositive 5"/>
          <p:cNvSpPr txBox="1">
            <a:spLocks noGrp="1"/>
          </p:cNvSpPr>
          <p:nvPr>
            <p:ph type="sldNum" sz="quarter" idx="8"/>
          </p:nvPr>
        </p:nvSpPr>
        <p:spPr>
          <a:xfrm>
            <a:off x="1787487" y="4928698"/>
            <a:ext cx="812801" cy="517522"/>
          </a:xfrm>
        </p:spPr>
        <p:txBody>
          <a:bodyPr/>
          <a:lstStyle>
            <a:lvl1pPr>
              <a:defRPr/>
            </a:lvl1pPr>
          </a:lstStyle>
          <a:p>
            <a:pPr lvl="0"/>
            <a:fld id="{C9A7D376-8C0B-4ABE-A1AD-03D9FA72434D}" type="slidenum"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0427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772853C-163C-4ACF-B740-0D9A285C0BCB}" type="datetime1">
              <a:rPr lang="fr-FR" smtClean="0"/>
              <a:t>20/10/2025</a:t>
            </a:fld>
            <a:endParaRPr lang="fr-FR"/>
          </a:p>
        </p:txBody>
      </p:sp>
      <p:sp>
        <p:nvSpPr>
          <p:cNvPr id="4" name="Espace réservé du pied de page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981F73-4CFE-4ABB-9692-75E8A98C4A18}" type="slidenum">
              <a:t>‹Nº›</a:t>
            </a:fld>
            <a:endParaRPr lang="fr-FR"/>
          </a:p>
        </p:txBody>
      </p:sp>
      <p:sp>
        <p:nvSpPr>
          <p:cNvPr id="6" name="Espace réservé du contenu 8"/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4876796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u contenu 10"/>
          <p:cNvSpPr txBox="1">
            <a:spLocks noGrp="1"/>
          </p:cNvSpPr>
          <p:nvPr>
            <p:ph idx="2"/>
          </p:nvPr>
        </p:nvSpPr>
        <p:spPr>
          <a:xfrm>
            <a:off x="5693667" y="1600200"/>
            <a:ext cx="4876796" cy="457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2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10058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6F36FA-0565-4064-B56C-7607DA2FC44E}" type="datetime1">
              <a:rPr lang="fr-FR" smtClean="0"/>
              <a:t>20/10/2025</a:t>
            </a:fld>
            <a:endParaRPr lang="fr-FR"/>
          </a:p>
        </p:txBody>
      </p:sp>
      <p:sp>
        <p:nvSpPr>
          <p:cNvPr id="4" name="Espace réservé du pied de page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9DE61D-DBE7-4574-AB49-2E1B64646457}" type="slidenum">
              <a:t>‹Nº›</a:t>
            </a:fld>
            <a:endParaRPr lang="fr-FR"/>
          </a:p>
        </p:txBody>
      </p:sp>
      <p:sp>
        <p:nvSpPr>
          <p:cNvPr id="6" name="Espace réservé du contenu 10"/>
          <p:cNvSpPr txBox="1">
            <a:spLocks noGrp="1"/>
          </p:cNvSpPr>
          <p:nvPr>
            <p:ph idx="2"/>
          </p:nvPr>
        </p:nvSpPr>
        <p:spPr>
          <a:xfrm>
            <a:off x="609603" y="2362196"/>
            <a:ext cx="4876796" cy="3886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u contenu 12"/>
          <p:cNvSpPr txBox="1">
            <a:spLocks noGrp="1"/>
          </p:cNvSpPr>
          <p:nvPr>
            <p:ph idx="4"/>
          </p:nvPr>
        </p:nvSpPr>
        <p:spPr>
          <a:xfrm>
            <a:off x="5829300" y="2362196"/>
            <a:ext cx="4876796" cy="3886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8" name="Espace réservé du texte 11"/>
          <p:cNvSpPr txBox="1">
            <a:spLocks noGrp="1"/>
          </p:cNvSpPr>
          <p:nvPr>
            <p:ph type="body" idx="1"/>
          </p:nvPr>
        </p:nvSpPr>
        <p:spPr>
          <a:xfrm>
            <a:off x="609603" y="1569723"/>
            <a:ext cx="4876796" cy="658368"/>
          </a:xfrm>
          <a:solidFill>
            <a:srgbClr val="98C723"/>
          </a:solidFill>
        </p:spPr>
        <p:txBody>
          <a:bodyPr anchor="ctr"/>
          <a:lstStyle>
            <a:lvl1pPr marL="0" indent="0"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Espace réservé du texte 13"/>
          <p:cNvSpPr txBox="1">
            <a:spLocks noGrp="1"/>
          </p:cNvSpPr>
          <p:nvPr>
            <p:ph type="body" idx="3"/>
          </p:nvPr>
        </p:nvSpPr>
        <p:spPr>
          <a:xfrm>
            <a:off x="5791196" y="1569723"/>
            <a:ext cx="4876796" cy="658368"/>
          </a:xfrm>
          <a:solidFill>
            <a:srgbClr val="98C723"/>
          </a:solidFill>
        </p:spPr>
        <p:txBody>
          <a:bodyPr anchor="ctr"/>
          <a:lstStyle>
            <a:lvl1pPr marL="0" indent="0"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5696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5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12064E-4145-4A4A-B93E-BFFDE71A02C3}" type="datetime1">
              <a:rPr lang="fr-FR" smtClean="0"/>
              <a:t>20/10/2025</a:t>
            </a:fld>
            <a:endParaRPr lang="fr-FR"/>
          </a:p>
        </p:txBody>
      </p:sp>
      <p:sp>
        <p:nvSpPr>
          <p:cNvPr id="4" name="Espace réservé du numéro de diapositive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D6A936-B951-422A-A285-72A86989F6D7}" type="slidenum">
              <a:t>‹Nº›</a:t>
            </a:fld>
            <a:endParaRPr lang="fr-FR"/>
          </a:p>
        </p:txBody>
      </p:sp>
      <p:sp>
        <p:nvSpPr>
          <p:cNvPr id="5" name="Espace réservé du pied de page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124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8EE49F-5FA0-4B1F-B35C-5086DE364598}" type="datetime1">
              <a:rPr lang="fr-FR" smtClean="0"/>
              <a:t>20/10/2025</a:t>
            </a:fld>
            <a:endParaRPr lang="fr-FR"/>
          </a:p>
        </p:txBody>
      </p:sp>
      <p:sp>
        <p:nvSpPr>
          <p:cNvPr id="3" name="Espace réservé du pied de page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Espace réservé du numéro de diapositive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B4A4D8-4A29-49BD-89F2-530BB2BC28B5}" type="slidenum"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15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eur droit 9"/>
          <p:cNvSpPr/>
          <p:nvPr/>
        </p:nvSpPr>
        <p:spPr>
          <a:xfrm>
            <a:off x="11684002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38103">
            <a:solidFill>
              <a:srgbClr val="CAE0AC">
                <a:alpha val="93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3" name="Titre 1"/>
          <p:cNvSpPr txBox="1">
            <a:spLocks noGrp="1"/>
          </p:cNvSpPr>
          <p:nvPr>
            <p:ph type="title"/>
          </p:nvPr>
        </p:nvSpPr>
        <p:spPr>
          <a:xfrm rot="5400013">
            <a:off x="5547339" y="3124199"/>
            <a:ext cx="6309360" cy="609603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2"/>
          <p:cNvSpPr txBox="1">
            <a:spLocks noGrp="1"/>
          </p:cNvSpPr>
          <p:nvPr>
            <p:ph type="body" idx="2"/>
          </p:nvPr>
        </p:nvSpPr>
        <p:spPr>
          <a:xfrm>
            <a:off x="9083036" y="274320"/>
            <a:ext cx="2036067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Connecteur droit 7"/>
          <p:cNvSpPr/>
          <p:nvPr/>
        </p:nvSpPr>
        <p:spPr>
          <a:xfrm>
            <a:off x="8331198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38103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6" name="Connecteur droit 8"/>
          <p:cNvSpPr/>
          <p:nvPr/>
        </p:nvSpPr>
        <p:spPr>
          <a:xfrm>
            <a:off x="8256391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2701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7" name="Connecteur droit 10"/>
          <p:cNvSpPr/>
          <p:nvPr/>
        </p:nvSpPr>
        <p:spPr>
          <a:xfrm>
            <a:off x="11988798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9046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8" name="Rectangle 11"/>
          <p:cNvSpPr/>
          <p:nvPr/>
        </p:nvSpPr>
        <p:spPr>
          <a:xfrm>
            <a:off x="11785601" y="0"/>
            <a:ext cx="406395" cy="6858000"/>
          </a:xfrm>
          <a:prstGeom prst="rect">
            <a:avLst/>
          </a:prstGeom>
          <a:solidFill>
            <a:srgbClr val="CAE0AC">
              <a:alpha val="87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9" name="Connecteur droit 12"/>
          <p:cNvSpPr/>
          <p:nvPr/>
        </p:nvSpPr>
        <p:spPr>
          <a:xfrm>
            <a:off x="11887200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0" name="Ellipse 13"/>
          <p:cNvSpPr/>
          <p:nvPr/>
        </p:nvSpPr>
        <p:spPr>
          <a:xfrm>
            <a:off x="10875260" y="5715000"/>
            <a:ext cx="731520" cy="5486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1" name="Espace réservé du contenu 17"/>
          <p:cNvSpPr txBox="1">
            <a:spLocks noGrp="1"/>
          </p:cNvSpPr>
          <p:nvPr>
            <p:ph idx="1"/>
          </p:nvPr>
        </p:nvSpPr>
        <p:spPr>
          <a:xfrm>
            <a:off x="406395" y="274320"/>
            <a:ext cx="7518397" cy="63276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Espace réservé de la date 20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24B47A-EFC7-419C-916D-61B06121F3E7}" type="datetime1">
              <a:rPr lang="fr-FR" smtClean="0"/>
              <a:t>20/10/2025</a:t>
            </a:fld>
            <a:endParaRPr lang="fr-FR"/>
          </a:p>
        </p:txBody>
      </p:sp>
      <p:sp>
        <p:nvSpPr>
          <p:cNvPr id="13" name="Espace réservé du numéro de diapositive 21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5CBAFB8-9714-412F-B90E-7D7FAA731082}" type="slidenum">
              <a:t>‹Nº›</a:t>
            </a:fld>
            <a:endParaRPr lang="fr-FR"/>
          </a:p>
        </p:txBody>
      </p:sp>
      <p:sp>
        <p:nvSpPr>
          <p:cNvPr id="14" name="Espace réservé du pied de page 2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94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eur droit 8"/>
          <p:cNvSpPr/>
          <p:nvPr/>
        </p:nvSpPr>
        <p:spPr>
          <a:xfrm>
            <a:off x="11684002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38103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3" name="Ellipse 12"/>
          <p:cNvSpPr/>
          <p:nvPr/>
        </p:nvSpPr>
        <p:spPr>
          <a:xfrm>
            <a:off x="10875260" y="5715000"/>
            <a:ext cx="731520" cy="5486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4" name="Titre 1"/>
          <p:cNvSpPr txBox="1">
            <a:spLocks noGrp="1"/>
          </p:cNvSpPr>
          <p:nvPr>
            <p:ph type="title"/>
          </p:nvPr>
        </p:nvSpPr>
        <p:spPr>
          <a:xfrm rot="5400013">
            <a:off x="5518380" y="3124199"/>
            <a:ext cx="6309360" cy="609603"/>
          </a:xfrm>
        </p:spPr>
        <p:txBody>
          <a:bodyPr/>
          <a:lstStyle>
            <a:lvl1pPr>
              <a:defRPr sz="2000" b="1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Espace réservé pour une image  2"/>
          <p:cNvSpPr txBox="1"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rgbClr val="E7ECED"/>
          </a:solidFill>
        </p:spPr>
        <p:txBody>
          <a:bodyPr anchorCtr="1"/>
          <a:lstStyle>
            <a:lvl1pPr marL="0" indent="0" algn="ctr">
              <a:buNone/>
              <a:defRPr sz="32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6" name="Espace réservé du texte 3"/>
          <p:cNvSpPr txBox="1">
            <a:spLocks noGrp="1"/>
          </p:cNvSpPr>
          <p:nvPr>
            <p:ph type="body" idx="2"/>
          </p:nvPr>
        </p:nvSpPr>
        <p:spPr>
          <a:xfrm>
            <a:off x="9021068" y="264791"/>
            <a:ext cx="2031997" cy="4956048"/>
          </a:xfrm>
        </p:spPr>
        <p:txBody>
          <a:bodyPr/>
          <a:lstStyle>
            <a:lvl1pPr marL="0" indent="0">
              <a:spcBef>
                <a:spcPts val="100"/>
              </a:spcBef>
              <a:spcAft>
                <a:spcPts val="400"/>
              </a:spcAft>
              <a:buNone/>
              <a:defRPr sz="1200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Connecteur droit 9"/>
          <p:cNvSpPr/>
          <p:nvPr/>
        </p:nvSpPr>
        <p:spPr>
          <a:xfrm>
            <a:off x="11988798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8" name="Rectangle 10"/>
          <p:cNvSpPr/>
          <p:nvPr/>
        </p:nvSpPr>
        <p:spPr>
          <a:xfrm>
            <a:off x="11785601" y="0"/>
            <a:ext cx="406395" cy="6858000"/>
          </a:xfrm>
          <a:prstGeom prst="rect">
            <a:avLst/>
          </a:prstGeom>
          <a:solidFill>
            <a:srgbClr val="CAE0AC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9" name="Connecteur droit 11"/>
          <p:cNvSpPr/>
          <p:nvPr/>
        </p:nvSpPr>
        <p:spPr>
          <a:xfrm>
            <a:off x="11887200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0" name="Connecteur droit 18"/>
          <p:cNvSpPr/>
          <p:nvPr/>
        </p:nvSpPr>
        <p:spPr>
          <a:xfrm>
            <a:off x="8331198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38103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1" name="Connecteur droit 19"/>
          <p:cNvSpPr/>
          <p:nvPr/>
        </p:nvSpPr>
        <p:spPr>
          <a:xfrm>
            <a:off x="8256391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2701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2" name="Espace réservé de la date 1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CCFAB1-B651-4ECF-B99B-6D64D02331BA}" type="datetime1">
              <a:rPr lang="fr-FR" smtClean="0"/>
              <a:t>20/10/2025</a:t>
            </a:fld>
            <a:endParaRPr lang="fr-FR"/>
          </a:p>
        </p:txBody>
      </p:sp>
      <p:sp>
        <p:nvSpPr>
          <p:cNvPr id="13" name="Espace réservé du numéro de diapositive 17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7A6F76A-06BA-4703-8B24-32915C403F66}" type="slidenum">
              <a:t>‹Nº›</a:t>
            </a:fld>
            <a:endParaRPr lang="fr-FR"/>
          </a:p>
        </p:txBody>
      </p:sp>
      <p:sp>
        <p:nvSpPr>
          <p:cNvPr id="14" name="Espace réservé du pied de page 20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40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E563934-4D08-40E7-8115-505D6E7066D3}" type="datetime1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9A3EF0-26E3-4718-B88E-11052A02582F}" type="slidenum"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77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235195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26C52E-96F5-42A9-B1A6-DE6E6D605D36}" type="datetime1">
              <a:rPr lang="fr-FR" smtClean="0"/>
              <a:t>20/10/2025</a:t>
            </a:fld>
            <a:endParaRPr lang="fr-FR"/>
          </a:p>
        </p:txBody>
      </p:sp>
      <p:sp>
        <p:nvSpPr>
          <p:cNvPr id="5" name="Espace réservé du pied de page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Espace réservé du numéro de diapositive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406290-D830-461C-A3E8-CD934BC8E7B5}" type="slidenum"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6564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eur droit 15"/>
          <p:cNvSpPr/>
          <p:nvPr/>
        </p:nvSpPr>
        <p:spPr>
          <a:xfrm>
            <a:off x="11684002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38103">
            <a:solidFill>
              <a:srgbClr val="CAE0AC">
                <a:alpha val="93000"/>
              </a:srgbClr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3" name="Espace réservé du titre 21"/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9956801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/>
          <a:lstStyle/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12"/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9956801" cy="487375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/>
          <p:cNvSpPr txBox="1">
            <a:spLocks noGrp="1"/>
          </p:cNvSpPr>
          <p:nvPr>
            <p:ph type="dt" sz="half" idx="2"/>
          </p:nvPr>
        </p:nvSpPr>
        <p:spPr>
          <a:xfrm rot="5400013">
            <a:off x="10454636" y="1017846"/>
            <a:ext cx="2011680" cy="51206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5B6973"/>
                </a:solidFill>
                <a:uFillTx/>
                <a:latin typeface="Century Schoolbook"/>
              </a:defRPr>
            </a:lvl1pPr>
          </a:lstStyle>
          <a:p>
            <a:pPr lvl="0"/>
            <a:fld id="{80E3BDCF-FB03-4A23-850C-55C6BF44904E}" type="datetime1">
              <a:rPr lang="fr-FR" smtClean="0"/>
              <a:t>20/10/2025</a:t>
            </a:fld>
            <a:endParaRPr lang="fr-FR"/>
          </a:p>
        </p:txBody>
      </p:sp>
      <p:sp>
        <p:nvSpPr>
          <p:cNvPr id="6" name="Espace réservé du pied de page 2"/>
          <p:cNvSpPr txBox="1">
            <a:spLocks noGrp="1"/>
          </p:cNvSpPr>
          <p:nvPr>
            <p:ph type="ftr" sz="quarter" idx="3"/>
          </p:nvPr>
        </p:nvSpPr>
        <p:spPr>
          <a:xfrm rot="5400013">
            <a:off x="9853633" y="3676286"/>
            <a:ext cx="3200400" cy="4876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/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5B6973"/>
                </a:solidFill>
                <a:uFillTx/>
                <a:latin typeface="Century Schoolbook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Connecteur droit 6"/>
          <p:cNvSpPr/>
          <p:nvPr/>
        </p:nvSpPr>
        <p:spPr>
          <a:xfrm>
            <a:off x="101598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57150">
            <a:solidFill>
              <a:srgbClr val="CAE0AC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8" name="Connecteur droit 8"/>
          <p:cNvSpPr/>
          <p:nvPr/>
        </p:nvSpPr>
        <p:spPr>
          <a:xfrm>
            <a:off x="11988798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9046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11785601" y="0"/>
            <a:ext cx="406395" cy="6858000"/>
          </a:xfrm>
          <a:prstGeom prst="rect">
            <a:avLst/>
          </a:prstGeom>
          <a:solidFill>
            <a:srgbClr val="CAE0AC">
              <a:alpha val="87000"/>
            </a:srgbClr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0" name="Connecteur droit 10"/>
          <p:cNvSpPr/>
          <p:nvPr/>
        </p:nvSpPr>
        <p:spPr>
          <a:xfrm>
            <a:off x="11887200" y="0"/>
            <a:ext cx="0" cy="6858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9528">
            <a:solidFill>
              <a:srgbClr val="98C723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/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entury Schoolbook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10875260" y="5715000"/>
            <a:ext cx="731520" cy="54864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98C72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entury Schoolbook"/>
            </a:endParaRPr>
          </a:p>
        </p:txBody>
      </p:sp>
      <p:sp>
        <p:nvSpPr>
          <p:cNvPr id="12" name="Espace réservé du numéro de diapositive 22"/>
          <p:cNvSpPr txBox="1">
            <a:spLocks noGrp="1"/>
          </p:cNvSpPr>
          <p:nvPr>
            <p:ph type="sldNum" sz="quarter" idx="4"/>
          </p:nvPr>
        </p:nvSpPr>
        <p:spPr>
          <a:xfrm>
            <a:off x="10838684" y="5734046"/>
            <a:ext cx="812801" cy="52120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/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400" b="1" i="0" u="none" strike="noStrike" kern="1200" cap="none" spc="0" baseline="0">
                <a:solidFill>
                  <a:srgbClr val="FFFFFF"/>
                </a:solidFill>
                <a:uFillTx/>
                <a:latin typeface="Century Schoolbook"/>
              </a:defRPr>
            </a:lvl1pPr>
          </a:lstStyle>
          <a:p>
            <a:pPr lvl="0"/>
            <a:fld id="{2B6DAC2A-FEEC-43C1-BAE0-CBA2BB7A0032}" type="slidenum"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621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fr-FR" sz="3000" b="0" i="0" u="none" strike="noStrike" kern="1200" cap="small" spc="0" baseline="0">
          <a:solidFill>
            <a:srgbClr val="5B6973"/>
          </a:solidFill>
          <a:uFillTx/>
          <a:latin typeface="Century Schoolbook"/>
        </a:defRPr>
      </a:lvl1pPr>
    </p:titleStyle>
    <p:bodyStyle>
      <a:lvl1pPr marL="274320" marR="0" lvl="0" indent="-274320" algn="l" defTabSz="914400" rtl="0" fontAlgn="auto" hangingPunct="1">
        <a:lnSpc>
          <a:spcPct val="100000"/>
        </a:lnSpc>
        <a:spcBef>
          <a:spcPts val="600"/>
        </a:spcBef>
        <a:spcAft>
          <a:spcPts val="0"/>
        </a:spcAft>
        <a:buClr>
          <a:srgbClr val="98C723"/>
        </a:buClr>
        <a:buSzPct val="70000"/>
        <a:buFont typeface="Wingdings"/>
        <a:buChar char="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Century Schoolbook"/>
        </a:defRPr>
      </a:lvl1pPr>
      <a:lvl2pPr marL="640080" marR="0" lvl="1" indent="-27432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98C723"/>
        </a:buClr>
        <a:buSzPct val="80000"/>
        <a:buFont typeface="Wingdings 2"/>
        <a:buChar char=""/>
        <a:tabLst/>
        <a:defRPr lang="fr-FR" sz="2100" b="0" i="0" u="none" strike="noStrike" kern="1200" cap="none" spc="0" baseline="0">
          <a:solidFill>
            <a:srgbClr val="000000"/>
          </a:solidFill>
          <a:uFillTx/>
          <a:latin typeface="Century Schoolbook"/>
        </a:defRPr>
      </a:lvl2pPr>
      <a:lvl3pPr marL="914400" marR="0" lvl="2" indent="-182880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Clr>
          <a:srgbClr val="85AF1D"/>
        </a:buClr>
        <a:buSzPct val="60000"/>
        <a:buFont typeface="Wingdings"/>
        <a:buChar char="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entury Schoolbook"/>
        </a:defRPr>
      </a:lvl3pPr>
      <a:lvl4pPr marL="1188720" marR="0" lvl="3" indent="-182880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Clr>
          <a:srgbClr val="CAE0AC"/>
        </a:buClr>
        <a:buSzPct val="60000"/>
        <a:buFont typeface="Wingdings"/>
        <a:buChar char="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Century Schoolbook"/>
        </a:defRPr>
      </a:lvl4pPr>
      <a:lvl5pPr marL="1463040" marR="0" lvl="4" indent="-182880" algn="l" defTabSz="914400" rtl="0" fontAlgn="auto" hangingPunct="1">
        <a:lnSpc>
          <a:spcPct val="100000"/>
        </a:lnSpc>
        <a:spcBef>
          <a:spcPts val="400"/>
        </a:spcBef>
        <a:spcAft>
          <a:spcPts val="0"/>
        </a:spcAft>
        <a:buClr>
          <a:srgbClr val="B5D4D9"/>
        </a:buClr>
        <a:buSzPct val="68000"/>
        <a:buFont typeface="Wingdings 2"/>
        <a:buChar char=""/>
        <a:tabLst/>
        <a:defRPr lang="fr-FR" sz="1600" b="0" i="0" u="none" strike="noStrike" kern="1200" cap="none" spc="0" baseline="0">
          <a:solidFill>
            <a:srgbClr val="000000"/>
          </a:solidFill>
          <a:uFillTx/>
          <a:latin typeface="Century Schoolbook"/>
        </a:defRPr>
      </a:lvl5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Grp="1"/>
          </p:cNvSpPr>
          <p:nvPr>
            <p:ph type="ctrTitle"/>
          </p:nvPr>
        </p:nvSpPr>
        <p:spPr>
          <a:xfrm>
            <a:off x="3143670" y="1609835"/>
            <a:ext cx="6552727" cy="2061752"/>
          </a:xfrm>
        </p:spPr>
        <p:txBody>
          <a:bodyPr/>
          <a:lstStyle/>
          <a:p>
            <a:pPr lvl="0"/>
            <a:r>
              <a:rPr lang="es-CO" sz="5200"/>
              <a:t>Teoría del cambio</a:t>
            </a:r>
            <a:endParaRPr lang="es-CO" sz="3500" dirty="0"/>
          </a:p>
        </p:txBody>
      </p:sp>
      <p:sp>
        <p:nvSpPr>
          <p:cNvPr id="3" name="Rectangle 3"/>
          <p:cNvSpPr txBox="1">
            <a:spLocks noGrp="1"/>
          </p:cNvSpPr>
          <p:nvPr>
            <p:ph type="subTitle" idx="1"/>
          </p:nvPr>
        </p:nvSpPr>
        <p:spPr>
          <a:xfrm>
            <a:off x="3143670" y="5003322"/>
            <a:ext cx="7272808" cy="1371600"/>
          </a:xfrm>
        </p:spPr>
        <p:txBody>
          <a:bodyPr/>
          <a:lstStyle/>
          <a:p>
            <a:pPr marR="70485" algn="r">
              <a:spcBef>
                <a:spcPts val="0"/>
              </a:spcBef>
              <a:tabLst>
                <a:tab pos="4320540" algn="l"/>
              </a:tabLst>
            </a:pPr>
            <a:r>
              <a:rPr lang="fr-FR" sz="2400" b="1" dirty="0">
                <a:effectLst/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RACHID LAAJAJ</a:t>
            </a:r>
          </a:p>
          <a:p>
            <a:pPr marL="0" marR="70485" algn="r">
              <a:spcBef>
                <a:spcPts val="0"/>
              </a:spcBef>
              <a:spcAft>
                <a:spcPts val="0"/>
              </a:spcAft>
              <a:tabLst>
                <a:tab pos="4320540" algn="l"/>
              </a:tabLst>
            </a:pPr>
            <a:r>
              <a:rPr lang="en-US" sz="2400" b="1" dirty="0">
                <a:effectLst/>
                <a:latin typeface="Times" panose="02020603050405020304" pitchFamily="18" charset="0"/>
                <a:ea typeface="Times" panose="02020603050405020304" pitchFamily="18" charset="0"/>
                <a:cs typeface="Times" panose="02020603050405020304" pitchFamily="18" charset="0"/>
              </a:rPr>
              <a:t>Evaluacion de Impacto</a:t>
            </a:r>
            <a:endParaRPr lang="es-CO" sz="2400" dirty="0">
              <a:effectLst/>
              <a:latin typeface="Times" panose="02020603050405020304" pitchFamily="18" charset="0"/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Espace réservé du numéro de diapositive 1"/>
          <p:cNvSpPr txBox="1"/>
          <p:nvPr/>
        </p:nvSpPr>
        <p:spPr>
          <a:xfrm>
            <a:off x="1767388" y="4928698"/>
            <a:ext cx="812801" cy="5175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1717E75-7AAE-421A-AB0A-3514ABA3E1D4}" type="slidenum"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D21B6-6601-43B8-A018-7B4BE684992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4583566A-5A19-46CB-853F-B62502F4CC82}" type="slidenum">
              <a:rPr lang="es-CO" smtClean="0"/>
              <a:t>1</a:t>
            </a:fld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75A17-9316-0127-6443-9D71E440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80" y="-5388"/>
            <a:ext cx="9956801" cy="831372"/>
          </a:xfrm>
        </p:spPr>
        <p:txBody>
          <a:bodyPr/>
          <a:lstStyle/>
          <a:p>
            <a:r>
              <a:rPr lang="es-ES" dirty="0"/>
              <a:t>¿Cómo se ve una Teoría del Cambio?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9927F-4FD4-00B5-0D97-9E61D254AC3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2</a:t>
            </a:fld>
            <a:endParaRPr lang="es-E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DA2446-B6B5-95C6-E026-91DF41F7CF50}"/>
              </a:ext>
            </a:extLst>
          </p:cNvPr>
          <p:cNvGrpSpPr/>
          <p:nvPr/>
        </p:nvGrpSpPr>
        <p:grpSpPr>
          <a:xfrm>
            <a:off x="2246898" y="1112227"/>
            <a:ext cx="1673099" cy="533998"/>
            <a:chOff x="302556" y="2346188"/>
            <a:chExt cx="1766093" cy="711998"/>
          </a:xfrm>
          <a:solidFill>
            <a:srgbClr val="00B0F0"/>
          </a:solidFill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0D831B3D-72B5-756B-523C-EA128890A2E6}"/>
                </a:ext>
              </a:extLst>
            </p:cNvPr>
            <p:cNvSpPr/>
            <p:nvPr/>
          </p:nvSpPr>
          <p:spPr>
            <a:xfrm>
              <a:off x="302556" y="2346188"/>
              <a:ext cx="1766093" cy="706438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0BF6D51E-7DD4-E29F-D4D2-9F69029665E0}"/>
                </a:ext>
              </a:extLst>
            </p:cNvPr>
            <p:cNvSpPr txBox="1"/>
            <p:nvPr/>
          </p:nvSpPr>
          <p:spPr>
            <a:xfrm>
              <a:off x="585691" y="2351749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prstClr val="white"/>
                  </a:solidFill>
                  <a:latin typeface="Calibri" panose="020F0502020204030204"/>
                </a:rPr>
                <a:t>Activities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B6E898-FED2-D39A-8416-BC3FA6CD7EAD}"/>
              </a:ext>
            </a:extLst>
          </p:cNvPr>
          <p:cNvGrpSpPr/>
          <p:nvPr/>
        </p:nvGrpSpPr>
        <p:grpSpPr>
          <a:xfrm>
            <a:off x="8392503" y="1130045"/>
            <a:ext cx="1547667" cy="529828"/>
            <a:chOff x="6359921" y="2356114"/>
            <a:chExt cx="1766093" cy="706437"/>
          </a:xfrm>
          <a:solidFill>
            <a:srgbClr val="00B0F0"/>
          </a:solidFill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9A7CC8FD-4F62-6BD2-243E-91FDD04DB737}"/>
                </a:ext>
              </a:extLst>
            </p:cNvPr>
            <p:cNvSpPr/>
            <p:nvPr/>
          </p:nvSpPr>
          <p:spPr>
            <a:xfrm>
              <a:off x="6359921" y="2356114"/>
              <a:ext cx="1766093" cy="706437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0" name="Arrow: Chevron 12">
              <a:extLst>
                <a:ext uri="{FF2B5EF4-FFF2-40B4-BE49-F238E27FC236}">
                  <a16:creationId xmlns:a16="http://schemas.microsoft.com/office/drawing/2014/main" id="{50244A54-61AF-1003-8B81-47458969CC40}"/>
                </a:ext>
              </a:extLst>
            </p:cNvPr>
            <p:cNvSpPr txBox="1"/>
            <p:nvPr/>
          </p:nvSpPr>
          <p:spPr>
            <a:xfrm>
              <a:off x="6713140" y="2356114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olidFill>
                    <a:prstClr val="white"/>
                  </a:solidFill>
                  <a:latin typeface="Calibri" panose="020F0502020204030204"/>
                </a:rPr>
                <a:t>Impact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0B08E1-95BD-6E19-FBBD-345EC42B8887}"/>
              </a:ext>
            </a:extLst>
          </p:cNvPr>
          <p:cNvGrpSpPr/>
          <p:nvPr/>
        </p:nvGrpSpPr>
        <p:grpSpPr>
          <a:xfrm>
            <a:off x="4287667" y="1111815"/>
            <a:ext cx="1703534" cy="529828"/>
            <a:chOff x="3180953" y="2356114"/>
            <a:chExt cx="1766093" cy="706437"/>
          </a:xfrm>
          <a:solidFill>
            <a:srgbClr val="00B0F0"/>
          </a:solidFill>
        </p:grpSpPr>
        <p:sp>
          <p:nvSpPr>
            <p:cNvPr id="12" name="Arrow: Chevron 11">
              <a:extLst>
                <a:ext uri="{FF2B5EF4-FFF2-40B4-BE49-F238E27FC236}">
                  <a16:creationId xmlns:a16="http://schemas.microsoft.com/office/drawing/2014/main" id="{C2E0A25A-30D4-42AE-5C5D-DE594F6E3C00}"/>
                </a:ext>
              </a:extLst>
            </p:cNvPr>
            <p:cNvSpPr/>
            <p:nvPr/>
          </p:nvSpPr>
          <p:spPr>
            <a:xfrm>
              <a:off x="3180953" y="2356114"/>
              <a:ext cx="1766093" cy="706437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3" name="Arrow: Chevron 8">
              <a:extLst>
                <a:ext uri="{FF2B5EF4-FFF2-40B4-BE49-F238E27FC236}">
                  <a16:creationId xmlns:a16="http://schemas.microsoft.com/office/drawing/2014/main" id="{AB4DD8E1-9A6A-DCF2-2196-8EF5D8B1DF9D}"/>
                </a:ext>
              </a:extLst>
            </p:cNvPr>
            <p:cNvSpPr txBox="1"/>
            <p:nvPr/>
          </p:nvSpPr>
          <p:spPr>
            <a:xfrm>
              <a:off x="3534172" y="2356114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prstClr val="white"/>
                  </a:solidFill>
                  <a:latin typeface="Calibri" panose="020F0502020204030204"/>
                </a:rPr>
                <a:t>Output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EE7C86-35DA-2C38-76DA-78974A04A6DB}"/>
              </a:ext>
            </a:extLst>
          </p:cNvPr>
          <p:cNvGrpSpPr/>
          <p:nvPr/>
        </p:nvGrpSpPr>
        <p:grpSpPr>
          <a:xfrm>
            <a:off x="6321298" y="1122990"/>
            <a:ext cx="1944743" cy="529828"/>
            <a:chOff x="4940157" y="1198432"/>
            <a:chExt cx="1766093" cy="706437"/>
          </a:xfrm>
          <a:solidFill>
            <a:srgbClr val="00B0F0"/>
          </a:solidFill>
        </p:grpSpPr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0D90C521-2E64-22F1-75D0-54792BECE634}"/>
                </a:ext>
              </a:extLst>
            </p:cNvPr>
            <p:cNvSpPr/>
            <p:nvPr/>
          </p:nvSpPr>
          <p:spPr>
            <a:xfrm>
              <a:off x="4940157" y="1198432"/>
              <a:ext cx="1766093" cy="706437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6" name="Arrow: Chevron 10">
              <a:extLst>
                <a:ext uri="{FF2B5EF4-FFF2-40B4-BE49-F238E27FC236}">
                  <a16:creationId xmlns:a16="http://schemas.microsoft.com/office/drawing/2014/main" id="{D33800DC-EEE0-97DD-ECAE-24B38C19B56A}"/>
                </a:ext>
              </a:extLst>
            </p:cNvPr>
            <p:cNvSpPr txBox="1"/>
            <p:nvPr/>
          </p:nvSpPr>
          <p:spPr>
            <a:xfrm>
              <a:off x="5293376" y="1198432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olidFill>
                    <a:prstClr val="white"/>
                  </a:solidFill>
                  <a:latin typeface="Calibri" panose="020F0502020204030204"/>
                </a:rPr>
                <a:t>Outcome</a:t>
              </a:r>
            </a:p>
          </p:txBody>
        </p:sp>
      </p:grp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3FE38428-FB4D-BAD5-A1EA-99C2E78E5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39910"/>
              </p:ext>
            </p:extLst>
          </p:nvPr>
        </p:nvGraphicFramePr>
        <p:xfrm>
          <a:off x="2158072" y="1649502"/>
          <a:ext cx="7945820" cy="226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27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2158985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1935804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1935804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263140">
                <a:tc>
                  <a:txBody>
                    <a:bodyPr/>
                    <a:lstStyle/>
                    <a:p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aphicFrame>
        <p:nvGraphicFramePr>
          <p:cNvPr id="18" name="Table 40">
            <a:extLst>
              <a:ext uri="{FF2B5EF4-FFF2-40B4-BE49-F238E27FC236}">
                <a16:creationId xmlns:a16="http://schemas.microsoft.com/office/drawing/2014/main" id="{DB83D83E-2D7C-9818-718A-F14A771EF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789160"/>
              </p:ext>
            </p:extLst>
          </p:nvPr>
        </p:nvGraphicFramePr>
        <p:xfrm>
          <a:off x="2953329" y="4439155"/>
          <a:ext cx="6355307" cy="1529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854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2119952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2124501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1529467"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58CA0070-1053-78D8-060A-22479D859216}"/>
              </a:ext>
            </a:extLst>
          </p:cNvPr>
          <p:cNvSpPr/>
          <p:nvPr/>
        </p:nvSpPr>
        <p:spPr>
          <a:xfrm>
            <a:off x="3625479" y="4007722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01562E48-F272-C5FC-6707-094DC44A5778}"/>
              </a:ext>
            </a:extLst>
          </p:cNvPr>
          <p:cNvSpPr/>
          <p:nvPr/>
        </p:nvSpPr>
        <p:spPr>
          <a:xfrm>
            <a:off x="5739047" y="4003349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E5765703-26A6-03C7-95B9-A9FB5C24B6BE}"/>
              </a:ext>
            </a:extLst>
          </p:cNvPr>
          <p:cNvSpPr/>
          <p:nvPr/>
        </p:nvSpPr>
        <p:spPr>
          <a:xfrm>
            <a:off x="7852615" y="4024074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A03A9D-0313-7E0D-A0C9-63F1D5CDEECD}"/>
              </a:ext>
            </a:extLst>
          </p:cNvPr>
          <p:cNvSpPr txBox="1"/>
          <p:nvPr/>
        </p:nvSpPr>
        <p:spPr>
          <a:xfrm>
            <a:off x="766002" y="4656800"/>
            <a:ext cx="1998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FF0000"/>
                </a:solidFill>
                <a:latin typeface="Calibri" panose="020F0502020204030204"/>
              </a:rPr>
              <a:t>Hypothesis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E0FC5A-C791-52C3-0A84-9D2C934CE8CB}"/>
              </a:ext>
            </a:extLst>
          </p:cNvPr>
          <p:cNvSpPr txBox="1"/>
          <p:nvPr/>
        </p:nvSpPr>
        <p:spPr>
          <a:xfrm>
            <a:off x="2158073" y="2981653"/>
            <a:ext cx="7985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Pathway / Causal Chain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AB678A57-AF67-5013-6087-E7A2FA12906A}"/>
              </a:ext>
            </a:extLst>
          </p:cNvPr>
          <p:cNvSpPr txBox="1">
            <a:spLocks/>
          </p:cNvSpPr>
          <p:nvPr/>
        </p:nvSpPr>
        <p:spPr>
          <a:xfrm>
            <a:off x="144380" y="6024172"/>
            <a:ext cx="11020926" cy="6213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100" kern="1200">
                <a:solidFill>
                  <a:srgbClr val="62625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/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 Teoría del Cambio articula los impactos que un proyecto pretende alcanzar y cómo los elementos de intervención del proyecto pueden dar lugar a los impactos deseados.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ángulo 10">
            <a:extLst>
              <a:ext uri="{FF2B5EF4-FFF2-40B4-BE49-F238E27FC236}">
                <a16:creationId xmlns:a16="http://schemas.microsoft.com/office/drawing/2014/main" id="{5A73ED7A-81E1-2878-C427-BD4F09EDB474}"/>
              </a:ext>
            </a:extLst>
          </p:cNvPr>
          <p:cNvSpPr/>
          <p:nvPr/>
        </p:nvSpPr>
        <p:spPr>
          <a:xfrm>
            <a:off x="2158071" y="1933956"/>
            <a:ext cx="1998875" cy="904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ES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Actividades necesarias en la implementación del Proyecto.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Rectángulo 11">
            <a:extLst>
              <a:ext uri="{FF2B5EF4-FFF2-40B4-BE49-F238E27FC236}">
                <a16:creationId xmlns:a16="http://schemas.microsoft.com/office/drawing/2014/main" id="{5742C7C1-AC8E-6A59-D3AA-70B370EC9FB0}"/>
              </a:ext>
            </a:extLst>
          </p:cNvPr>
          <p:cNvSpPr/>
          <p:nvPr/>
        </p:nvSpPr>
        <p:spPr>
          <a:xfrm>
            <a:off x="4133062" y="2047788"/>
            <a:ext cx="2129069" cy="797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ES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Productos intermedios que se espera que resulten directamente de la intervención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ángulo 12">
            <a:extLst>
              <a:ext uri="{FF2B5EF4-FFF2-40B4-BE49-F238E27FC236}">
                <a16:creationId xmlns:a16="http://schemas.microsoft.com/office/drawing/2014/main" id="{76D5A336-0DDD-B492-6DF5-7A1A03E545D3}"/>
              </a:ext>
            </a:extLst>
          </p:cNvPr>
          <p:cNvSpPr/>
          <p:nvPr/>
        </p:nvSpPr>
        <p:spPr>
          <a:xfrm>
            <a:off x="6425853" y="2047788"/>
            <a:ext cx="1785157" cy="780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Beneficios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 resultados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esperados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corto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plazo</a:t>
            </a:r>
          </a:p>
        </p:txBody>
      </p:sp>
      <p:sp>
        <p:nvSpPr>
          <p:cNvPr id="28" name="Rectángulo 19">
            <a:extLst>
              <a:ext uri="{FF2B5EF4-FFF2-40B4-BE49-F238E27FC236}">
                <a16:creationId xmlns:a16="http://schemas.microsoft.com/office/drawing/2014/main" id="{2D827D9B-2F3B-FDDB-8207-2DD4783938A6}"/>
              </a:ext>
            </a:extLst>
          </p:cNvPr>
          <p:cNvSpPr/>
          <p:nvPr/>
        </p:nvSpPr>
        <p:spPr>
          <a:xfrm>
            <a:off x="8237121" y="1951528"/>
            <a:ext cx="1796807" cy="8282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s-ES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Objetivos finales a largo plazo del programa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ángulo 10">
            <a:extLst>
              <a:ext uri="{FF2B5EF4-FFF2-40B4-BE49-F238E27FC236}">
                <a16:creationId xmlns:a16="http://schemas.microsoft.com/office/drawing/2014/main" id="{16FF539E-F320-AE4C-756F-CE7D7DDB63F9}"/>
              </a:ext>
            </a:extLst>
          </p:cNvPr>
          <p:cNvSpPr/>
          <p:nvPr/>
        </p:nvSpPr>
        <p:spPr>
          <a:xfrm>
            <a:off x="2953329" y="4745380"/>
            <a:ext cx="6355307" cy="926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s-E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Condiciones para que una actividad/producto/resultado determinado dé lugar al siguiente paso en la Trayectoria de Impacto.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1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6" grpId="0"/>
      <p:bldP spid="27" grpId="0"/>
      <p:bldP spid="28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FF898-9B9D-6E64-B0BC-1863BAD2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274640"/>
            <a:ext cx="9956801" cy="686652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¿Por qué hacer una Teoría del Cambio?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882E3-F7E2-E821-95BD-3BBC93B9A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515" y="1129456"/>
            <a:ext cx="10025889" cy="5125798"/>
          </a:xfrm>
        </p:spPr>
        <p:txBody>
          <a:bodyPr/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Tener una </a:t>
            </a:r>
            <a:r>
              <a:rPr lang="es-E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reflexión profunda sobre los canales</a:t>
            </a: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Ayudarle a pensar en qué variables incluir en el análisis.
Una </a:t>
            </a:r>
            <a:r>
              <a:rPr lang="es-E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trayectoria de impacto compartida </a:t>
            </a: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entendida dentro de la institución y con los socios (si se ha desarrollado conjuntamente)
El </a:t>
            </a:r>
            <a:r>
              <a:rPr lang="es-E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riesgos y mitigación </a:t>
            </a: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puede provenir directamente de las hipótesis y condiciones en cada etapa de la cadena causal.
El Monitoreo y Evaluación y la evaluación de impacto pueden seguir a través de ese proceso, lo que le ayuda a comprender los </a:t>
            </a:r>
            <a:r>
              <a:rPr lang="es-E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cuellos de botella</a:t>
            </a: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Muchos </a:t>
            </a:r>
            <a:r>
              <a:rPr lang="es-ES" sz="28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donantes requieren</a:t>
            </a:r>
            <a:r>
              <a:rPr lang="es-E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una Teoría del Cambio.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8F5CF-9FA7-AEAD-5144-161D78FE039F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222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7284-E1EC-4D1D-EEF4-766883BC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941" y="216024"/>
            <a:ext cx="9956801" cy="487361"/>
          </a:xfrm>
        </p:spPr>
        <p:txBody>
          <a:bodyPr/>
          <a:lstStyle/>
          <a:p>
            <a:r>
              <a:rPr lang="en-US" dirty="0"/>
              <a:t>Where should I start from? (my preference)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C2E79-FA30-CE4B-5F10-086959ECD94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4</a:t>
            </a:fld>
            <a:endParaRPr lang="es-E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A31ADA-258A-1A5A-8E15-FCCF8A485C99}"/>
              </a:ext>
            </a:extLst>
          </p:cNvPr>
          <p:cNvGrpSpPr/>
          <p:nvPr/>
        </p:nvGrpSpPr>
        <p:grpSpPr>
          <a:xfrm>
            <a:off x="1731081" y="936381"/>
            <a:ext cx="1673099" cy="533998"/>
            <a:chOff x="302556" y="2346188"/>
            <a:chExt cx="1766093" cy="711998"/>
          </a:xfrm>
          <a:solidFill>
            <a:srgbClr val="00B0F0"/>
          </a:solidFill>
        </p:grpSpPr>
        <p:sp>
          <p:nvSpPr>
            <p:cNvPr id="28" name="Arrow: Chevron 27">
              <a:extLst>
                <a:ext uri="{FF2B5EF4-FFF2-40B4-BE49-F238E27FC236}">
                  <a16:creationId xmlns:a16="http://schemas.microsoft.com/office/drawing/2014/main" id="{2A6A067B-5F04-2CE5-D7BC-FB2BDEC2D524}"/>
                </a:ext>
              </a:extLst>
            </p:cNvPr>
            <p:cNvSpPr/>
            <p:nvPr/>
          </p:nvSpPr>
          <p:spPr>
            <a:xfrm>
              <a:off x="302556" y="2346188"/>
              <a:ext cx="1766093" cy="706438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9" name="Arrow: Chevron 6">
              <a:extLst>
                <a:ext uri="{FF2B5EF4-FFF2-40B4-BE49-F238E27FC236}">
                  <a16:creationId xmlns:a16="http://schemas.microsoft.com/office/drawing/2014/main" id="{88BACC7D-B5DE-F924-343C-466622243802}"/>
                </a:ext>
              </a:extLst>
            </p:cNvPr>
            <p:cNvSpPr txBox="1"/>
            <p:nvPr/>
          </p:nvSpPr>
          <p:spPr>
            <a:xfrm>
              <a:off x="585691" y="2351749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prstClr val="white"/>
                  </a:solidFill>
                  <a:latin typeface="Calibri" panose="020F0502020204030204"/>
                </a:rPr>
                <a:t>Activities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608E527-A591-874C-4AA6-E1B7C3A04075}"/>
              </a:ext>
            </a:extLst>
          </p:cNvPr>
          <p:cNvGrpSpPr/>
          <p:nvPr/>
        </p:nvGrpSpPr>
        <p:grpSpPr>
          <a:xfrm>
            <a:off x="7876686" y="954199"/>
            <a:ext cx="1547667" cy="529828"/>
            <a:chOff x="6359921" y="2356114"/>
            <a:chExt cx="1766093" cy="706437"/>
          </a:xfrm>
          <a:solidFill>
            <a:srgbClr val="00B0F0"/>
          </a:solidFill>
        </p:grpSpPr>
        <p:sp>
          <p:nvSpPr>
            <p:cNvPr id="31" name="Arrow: Chevron 30">
              <a:extLst>
                <a:ext uri="{FF2B5EF4-FFF2-40B4-BE49-F238E27FC236}">
                  <a16:creationId xmlns:a16="http://schemas.microsoft.com/office/drawing/2014/main" id="{BF2076B2-943B-A3B0-B67D-C4D977CA11E5}"/>
                </a:ext>
              </a:extLst>
            </p:cNvPr>
            <p:cNvSpPr/>
            <p:nvPr/>
          </p:nvSpPr>
          <p:spPr>
            <a:xfrm>
              <a:off x="6359921" y="2356114"/>
              <a:ext cx="1766093" cy="706437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2" name="Arrow: Chevron 12">
              <a:extLst>
                <a:ext uri="{FF2B5EF4-FFF2-40B4-BE49-F238E27FC236}">
                  <a16:creationId xmlns:a16="http://schemas.microsoft.com/office/drawing/2014/main" id="{D0F471A8-C3E8-85F1-71B6-8B5D236E2EA6}"/>
                </a:ext>
              </a:extLst>
            </p:cNvPr>
            <p:cNvSpPr txBox="1"/>
            <p:nvPr/>
          </p:nvSpPr>
          <p:spPr>
            <a:xfrm>
              <a:off x="6713140" y="2356114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olidFill>
                    <a:prstClr val="white"/>
                  </a:solidFill>
                  <a:latin typeface="Calibri" panose="020F0502020204030204"/>
                </a:rPr>
                <a:t>Impact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887C7D-F4B1-F2B0-9614-E52AC0091F38}"/>
              </a:ext>
            </a:extLst>
          </p:cNvPr>
          <p:cNvGrpSpPr/>
          <p:nvPr/>
        </p:nvGrpSpPr>
        <p:grpSpPr>
          <a:xfrm>
            <a:off x="3771851" y="935969"/>
            <a:ext cx="1703534" cy="529828"/>
            <a:chOff x="3180953" y="2356114"/>
            <a:chExt cx="1766093" cy="706437"/>
          </a:xfrm>
          <a:solidFill>
            <a:srgbClr val="00B0F0"/>
          </a:solidFill>
        </p:grpSpPr>
        <p:sp>
          <p:nvSpPr>
            <p:cNvPr id="34" name="Arrow: Chevron 33">
              <a:extLst>
                <a:ext uri="{FF2B5EF4-FFF2-40B4-BE49-F238E27FC236}">
                  <a16:creationId xmlns:a16="http://schemas.microsoft.com/office/drawing/2014/main" id="{6FEF7A2B-69AF-4BC0-0849-A35AF0223B75}"/>
                </a:ext>
              </a:extLst>
            </p:cNvPr>
            <p:cNvSpPr/>
            <p:nvPr/>
          </p:nvSpPr>
          <p:spPr>
            <a:xfrm>
              <a:off x="3180953" y="2356114"/>
              <a:ext cx="1766093" cy="706437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5" name="Arrow: Chevron 8">
              <a:extLst>
                <a:ext uri="{FF2B5EF4-FFF2-40B4-BE49-F238E27FC236}">
                  <a16:creationId xmlns:a16="http://schemas.microsoft.com/office/drawing/2014/main" id="{767C73EB-ED2B-C2CE-5A02-7394798198EC}"/>
                </a:ext>
              </a:extLst>
            </p:cNvPr>
            <p:cNvSpPr txBox="1"/>
            <p:nvPr/>
          </p:nvSpPr>
          <p:spPr>
            <a:xfrm>
              <a:off x="3534172" y="2356114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>
                  <a:solidFill>
                    <a:prstClr val="white"/>
                  </a:solidFill>
                  <a:latin typeface="Calibri" panose="020F0502020204030204"/>
                </a:rPr>
                <a:t>Output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C8AEBD-8EA8-5926-40BA-C63C16EEA80F}"/>
              </a:ext>
            </a:extLst>
          </p:cNvPr>
          <p:cNvGrpSpPr/>
          <p:nvPr/>
        </p:nvGrpSpPr>
        <p:grpSpPr>
          <a:xfrm>
            <a:off x="5805481" y="947144"/>
            <a:ext cx="1944743" cy="529828"/>
            <a:chOff x="4940157" y="1198432"/>
            <a:chExt cx="1766093" cy="706437"/>
          </a:xfrm>
          <a:solidFill>
            <a:srgbClr val="00B0F0"/>
          </a:solidFill>
        </p:grpSpPr>
        <p:sp>
          <p:nvSpPr>
            <p:cNvPr id="37" name="Arrow: Chevron 36">
              <a:extLst>
                <a:ext uri="{FF2B5EF4-FFF2-40B4-BE49-F238E27FC236}">
                  <a16:creationId xmlns:a16="http://schemas.microsoft.com/office/drawing/2014/main" id="{EB0963AA-31A0-82F0-AA64-9556F94081F8}"/>
                </a:ext>
              </a:extLst>
            </p:cNvPr>
            <p:cNvSpPr/>
            <p:nvPr/>
          </p:nvSpPr>
          <p:spPr>
            <a:xfrm>
              <a:off x="4940157" y="1198432"/>
              <a:ext cx="1766093" cy="706437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38" name="Arrow: Chevron 10">
              <a:extLst>
                <a:ext uri="{FF2B5EF4-FFF2-40B4-BE49-F238E27FC236}">
                  <a16:creationId xmlns:a16="http://schemas.microsoft.com/office/drawing/2014/main" id="{6C29E7E0-210B-46B5-063B-95E857FDDFC9}"/>
                </a:ext>
              </a:extLst>
            </p:cNvPr>
            <p:cNvSpPr txBox="1"/>
            <p:nvPr/>
          </p:nvSpPr>
          <p:spPr>
            <a:xfrm>
              <a:off x="5293376" y="1198432"/>
              <a:ext cx="1059656" cy="70643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1007" tIns="17003" rIns="17003" bIns="17003" numCol="1" spcCol="1270" anchor="ctr" anchorCtr="0">
              <a:noAutofit/>
            </a:bodyPr>
            <a:lstStyle/>
            <a:p>
              <a:pPr algn="ctr" defTabSz="566738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olidFill>
                    <a:prstClr val="white"/>
                  </a:solidFill>
                  <a:latin typeface="Calibri" panose="020F0502020204030204"/>
                </a:rPr>
                <a:t>Outcome</a:t>
              </a:r>
            </a:p>
          </p:txBody>
        </p:sp>
      </p:grpSp>
      <p:graphicFrame>
        <p:nvGraphicFramePr>
          <p:cNvPr id="39" name="Table 29">
            <a:extLst>
              <a:ext uri="{FF2B5EF4-FFF2-40B4-BE49-F238E27FC236}">
                <a16:creationId xmlns:a16="http://schemas.microsoft.com/office/drawing/2014/main" id="{B573829E-6917-19B0-E351-9DE248A55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49886"/>
              </p:ext>
            </p:extLst>
          </p:nvPr>
        </p:nvGraphicFramePr>
        <p:xfrm>
          <a:off x="1642256" y="1473656"/>
          <a:ext cx="7945820" cy="226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27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2158985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1935804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1935804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263140">
                <a:tc>
                  <a:txBody>
                    <a:bodyPr/>
                    <a:lstStyle/>
                    <a:p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aphicFrame>
        <p:nvGraphicFramePr>
          <p:cNvPr id="40" name="Table 40">
            <a:extLst>
              <a:ext uri="{FF2B5EF4-FFF2-40B4-BE49-F238E27FC236}">
                <a16:creationId xmlns:a16="http://schemas.microsoft.com/office/drawing/2014/main" id="{6832AA9D-9F08-19AD-8BCF-91BF04E08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885816"/>
              </p:ext>
            </p:extLst>
          </p:nvPr>
        </p:nvGraphicFramePr>
        <p:xfrm>
          <a:off x="2437512" y="4263308"/>
          <a:ext cx="6355307" cy="1811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854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2119952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2124501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1811655"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300"/>
                        </a:spcAft>
                        <a:buFontTx/>
                        <a:buNone/>
                      </a:pP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41" name="Arrow: Curved Up 40">
            <a:extLst>
              <a:ext uri="{FF2B5EF4-FFF2-40B4-BE49-F238E27FC236}">
                <a16:creationId xmlns:a16="http://schemas.microsoft.com/office/drawing/2014/main" id="{AC0D00F2-990B-B00F-1D9C-E188476C2EE5}"/>
              </a:ext>
            </a:extLst>
          </p:cNvPr>
          <p:cNvSpPr/>
          <p:nvPr/>
        </p:nvSpPr>
        <p:spPr>
          <a:xfrm>
            <a:off x="3109663" y="3831875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Arrow: Curved Up 41">
            <a:extLst>
              <a:ext uri="{FF2B5EF4-FFF2-40B4-BE49-F238E27FC236}">
                <a16:creationId xmlns:a16="http://schemas.microsoft.com/office/drawing/2014/main" id="{CEBED659-F553-FF7D-2873-A165378765C7}"/>
              </a:ext>
            </a:extLst>
          </p:cNvPr>
          <p:cNvSpPr/>
          <p:nvPr/>
        </p:nvSpPr>
        <p:spPr>
          <a:xfrm>
            <a:off x="5223231" y="3827502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Arrow: Curved Up 42">
            <a:extLst>
              <a:ext uri="{FF2B5EF4-FFF2-40B4-BE49-F238E27FC236}">
                <a16:creationId xmlns:a16="http://schemas.microsoft.com/office/drawing/2014/main" id="{8E7E9D60-C5BA-BD3F-714E-FDBF383BC321}"/>
              </a:ext>
            </a:extLst>
          </p:cNvPr>
          <p:cNvSpPr/>
          <p:nvPr/>
        </p:nvSpPr>
        <p:spPr>
          <a:xfrm>
            <a:off x="7336799" y="3848227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A81F44-AD30-F8AD-A0F6-2E24E3DE7F02}"/>
              </a:ext>
            </a:extLst>
          </p:cNvPr>
          <p:cNvSpPr txBox="1"/>
          <p:nvPr/>
        </p:nvSpPr>
        <p:spPr>
          <a:xfrm>
            <a:off x="1252773" y="4480954"/>
            <a:ext cx="9962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b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Hypothesis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5D941A-8E43-E509-3079-A4D56EDC6EED}"/>
              </a:ext>
            </a:extLst>
          </p:cNvPr>
          <p:cNvSpPr txBox="1"/>
          <p:nvPr/>
        </p:nvSpPr>
        <p:spPr>
          <a:xfrm>
            <a:off x="2249060" y="1879642"/>
            <a:ext cx="8059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8EF8BC-2695-C0E9-A338-C30A19288159}"/>
              </a:ext>
            </a:extLst>
          </p:cNvPr>
          <p:cNvSpPr txBox="1"/>
          <p:nvPr/>
        </p:nvSpPr>
        <p:spPr>
          <a:xfrm>
            <a:off x="8247521" y="1907829"/>
            <a:ext cx="8059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8FD9C8-AD89-AFBB-7A0E-358263B9FD64}"/>
              </a:ext>
            </a:extLst>
          </p:cNvPr>
          <p:cNvSpPr txBox="1"/>
          <p:nvPr/>
        </p:nvSpPr>
        <p:spPr>
          <a:xfrm>
            <a:off x="5402483" y="1874933"/>
            <a:ext cx="8059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45E354-C148-AF16-7B5A-2EDCC7E15AB5}"/>
              </a:ext>
            </a:extLst>
          </p:cNvPr>
          <p:cNvSpPr txBox="1"/>
          <p:nvPr/>
        </p:nvSpPr>
        <p:spPr>
          <a:xfrm>
            <a:off x="5322872" y="4538521"/>
            <a:ext cx="8059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225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7315-587E-1085-2153-3DD2BEF6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274640"/>
            <a:ext cx="9956801" cy="667469"/>
          </a:xfrm>
        </p:spPr>
        <p:txBody>
          <a:bodyPr/>
          <a:lstStyle/>
          <a:p>
            <a:r>
              <a:rPr lang="en-US" dirty="0"/>
              <a:t>Application to a Customs Reform in Colombia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2B55D-4FC0-7807-7B7F-BD6A3E426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s-ES" dirty="0"/>
              <a:t>Para aplicarlo, utilizaré una intervención que conozco bien en Colombia: La informatización de las transacciones de importación en las aduanas colombianas.
Referencia: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Laajaj, R., Eslava, M. and Kinda, T., 2023. The costs of bureaucracy and corruption at customs: Evidence from the computerization of imports in Colombia. Journal of Public Economics, 225, p.104969.</a:t>
            </a:r>
            <a:endParaRPr lang="es-C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7EE8B-A451-77DB-2D76-39B02F0D4C14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01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F7AA-D727-2182-2820-42749A70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24" y="15942"/>
            <a:ext cx="10958820" cy="926248"/>
          </a:xfrm>
        </p:spPr>
        <p:txBody>
          <a:bodyPr/>
          <a:lstStyle/>
          <a:p>
            <a:r>
              <a:rPr lang="es-ES" dirty="0"/>
              <a:t>Un ejemplo sencillo de </a:t>
            </a:r>
            <a:r>
              <a:rPr lang="es-ES" dirty="0" err="1"/>
              <a:t>TdC</a:t>
            </a:r>
            <a:r>
              <a:rPr lang="es-ES" dirty="0"/>
              <a:t>: Informatización de las Transacciones de Importación en Colombia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B8327-C9ED-E096-8866-95FD318D708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6</a:t>
            </a:fld>
            <a:endParaRPr lang="es-E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0F1D87-DEEC-FC87-3FCE-3806A42CD1F1}"/>
              </a:ext>
            </a:extLst>
          </p:cNvPr>
          <p:cNvGrpSpPr/>
          <p:nvPr/>
        </p:nvGrpSpPr>
        <p:grpSpPr>
          <a:xfrm>
            <a:off x="850652" y="909647"/>
            <a:ext cx="9756388" cy="600729"/>
            <a:chOff x="1625596" y="962318"/>
            <a:chExt cx="7693272" cy="5480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025BDB-48EF-4212-FF49-4620CA1FA89A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6" name="Arrow: Chevron 5">
                <a:extLst>
                  <a:ext uri="{FF2B5EF4-FFF2-40B4-BE49-F238E27FC236}">
                    <a16:creationId xmlns:a16="http://schemas.microsoft.com/office/drawing/2014/main" id="{74909B65-0CB7-1B59-78B3-64782E676CA7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D3D8609D-9A34-4C37-D471-0B76A58FA0D7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D21A1C-5AF7-B388-74FA-FA836F70F12E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C71D0853-E0DB-D70D-68C0-BFB44C423AF1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0" name="Arrow: Chevron 12">
                <a:extLst>
                  <a:ext uri="{FF2B5EF4-FFF2-40B4-BE49-F238E27FC236}">
                    <a16:creationId xmlns:a16="http://schemas.microsoft.com/office/drawing/2014/main" id="{8C9D0CCE-E29F-9C53-7F23-4375146A5074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4BA7594-CDBA-5AD7-AF49-559AEC34A35F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3DB27ABF-BED3-D9E8-7BAE-9905593C9E36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3" name="Arrow: Chevron 8">
                <a:extLst>
                  <a:ext uri="{FF2B5EF4-FFF2-40B4-BE49-F238E27FC236}">
                    <a16:creationId xmlns:a16="http://schemas.microsoft.com/office/drawing/2014/main" id="{9509C471-8756-93E8-55A2-19CEA1461952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4DC9BE-B8BD-6C14-6401-FA028C78AAE0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AB7B0695-B754-6C84-B172-7FDDEA527E33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Arrow: Chevron 10">
                <a:extLst>
                  <a:ext uri="{FF2B5EF4-FFF2-40B4-BE49-F238E27FC236}">
                    <a16:creationId xmlns:a16="http://schemas.microsoft.com/office/drawing/2014/main" id="{CC4D78AF-D491-E16A-C10A-CF0DC49575D7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BD4E2C39-D6AD-D7E7-3C08-8595DE215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151043"/>
              </p:ext>
            </p:extLst>
          </p:nvPr>
        </p:nvGraphicFramePr>
        <p:xfrm>
          <a:off x="850653" y="1492146"/>
          <a:ext cx="9893548" cy="3116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70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2688208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410320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410320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95114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Sustitución de las declaraciones de importación en papel por las informatizadas.
Un programa informático que lo permita.
Una reorganización que limita y supervisa las interacciones directas.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Reducción del poder discrecional de los agentes de aduanas.</a:t>
                      </a:r>
                    </a:p>
                    <a:p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Menos control, pero más inteligente de las importaciones.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Reducción de la burocracia en la aduana.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Facilitación de las importaciones en las aduanas tratadas.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Reducción de la corrupción.</a:t>
                      </a:r>
                      <a:endParaRPr lang="en-US" sz="17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Aumento de la recaudación tributaria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Crecimiento económico de las empresas importadoras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Más crecimiento económico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aphicFrame>
        <p:nvGraphicFramePr>
          <p:cNvPr id="18" name="Table 40">
            <a:extLst>
              <a:ext uri="{FF2B5EF4-FFF2-40B4-BE49-F238E27FC236}">
                <a16:creationId xmlns:a16="http://schemas.microsoft.com/office/drawing/2014/main" id="{8FC71C38-9177-8838-3883-3424C0D6F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362121"/>
              </p:ext>
            </p:extLst>
          </p:nvPr>
        </p:nvGraphicFramePr>
        <p:xfrm>
          <a:off x="1424539" y="4712049"/>
          <a:ext cx="9538636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1958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3041583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3465095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2027079"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Implementación efectiva. 
El programa funciona bien.
Aprenda a hacer un buen uso de la información instantánea para diseñar controles más inteligentes.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hay forma alternativa para que los agentes de aduanas extraigan rentas o impongan nueva burocracia.
Las empresas no responden evitando las aduanas tratadas.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coercitivo que colusorio.
Las empresas importan más una vez que se facilitan las importaciones.
</a:t>
                      </a:r>
                      <a:r>
                        <a:rPr lang="es-ES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ayudan a las empresas importadoras a crecer.
No se compensa con la pérdida de no importadores.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83246960-1EB6-E8B5-AEB5-6DC575A81BC4}"/>
              </a:ext>
            </a:extLst>
          </p:cNvPr>
          <p:cNvSpPr/>
          <p:nvPr/>
        </p:nvSpPr>
        <p:spPr>
          <a:xfrm>
            <a:off x="7928820" y="443505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0CF26-AA52-175B-4702-81D386C85DF6}"/>
              </a:ext>
            </a:extLst>
          </p:cNvPr>
          <p:cNvSpPr txBox="1"/>
          <p:nvPr/>
        </p:nvSpPr>
        <p:spPr>
          <a:xfrm>
            <a:off x="133097" y="4965744"/>
            <a:ext cx="1435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Hypothesis</a:t>
            </a: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37D695A7-B258-A7BE-DC5B-652AD0D5C945}"/>
              </a:ext>
            </a:extLst>
          </p:cNvPr>
          <p:cNvSpPr/>
          <p:nvPr/>
        </p:nvSpPr>
        <p:spPr>
          <a:xfrm>
            <a:off x="2942441" y="443505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303B7A0E-16C6-8127-5F9F-BA93B24C7CAE}"/>
              </a:ext>
            </a:extLst>
          </p:cNvPr>
          <p:cNvSpPr/>
          <p:nvPr/>
        </p:nvSpPr>
        <p:spPr>
          <a:xfrm>
            <a:off x="5489827" y="443505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3932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D8D6-8C58-6A0D-BDA8-9AA3B6EA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4" y="274640"/>
            <a:ext cx="11314601" cy="784139"/>
          </a:xfrm>
        </p:spPr>
        <p:txBody>
          <a:bodyPr/>
          <a:lstStyle/>
          <a:p>
            <a:r>
              <a:rPr lang="es-ES" dirty="0"/>
              <a:t>¿Cómo la </a:t>
            </a:r>
            <a:r>
              <a:rPr lang="es-ES" dirty="0" err="1"/>
              <a:t>TdC</a:t>
            </a:r>
            <a:r>
              <a:rPr lang="es-ES" dirty="0"/>
              <a:t> alimenta su evaluación de impacto?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BD6B-C57F-E4A6-0BD0-00FF5F74E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600200"/>
            <a:ext cx="10229081" cy="4873752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s-ES" dirty="0"/>
              <a:t>Las evaluaciones de impacto tienen que ver con los IMPACTOS, que la </a:t>
            </a:r>
            <a:r>
              <a:rPr lang="es-ES" dirty="0" err="1"/>
              <a:t>TdC</a:t>
            </a:r>
            <a:r>
              <a:rPr lang="es-ES" dirty="0"/>
              <a:t> te empuja a definir bien sin dejar de ser realista.
Te ayuda a </a:t>
            </a:r>
            <a:r>
              <a:rPr lang="es-ES" u="sng" dirty="0"/>
              <a:t>definir tus indicadores </a:t>
            </a:r>
            <a:r>
              <a:rPr lang="es-ES" dirty="0"/>
              <a:t>en todos los niveles de la cadena causal.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s-ES" dirty="0"/>
              <a:t>Si no se alcanza el impacto final (o se alcanza de manera imperfecta), querrá saber </a:t>
            </a:r>
            <a:r>
              <a:rPr lang="es-ES" u="sng" dirty="0"/>
              <a:t>dónde falló </a:t>
            </a:r>
            <a:r>
              <a:rPr lang="es-ES" dirty="0"/>
              <a:t>en la cadena causal.
En los </a:t>
            </a:r>
            <a:r>
              <a:rPr lang="es-ES" u="sng" dirty="0"/>
              <a:t>Estudios Aleatorios</a:t>
            </a:r>
            <a:r>
              <a:rPr lang="es-ES" dirty="0"/>
              <a:t>, puede diseñar su estudio para probar si una hipótesis específica es un determinante clave del éxito de su proyecto/iniciativa (a través de la </a:t>
            </a:r>
            <a:r>
              <a:rPr lang="es-ES" u="sng" dirty="0"/>
              <a:t>aleatorización cruzada</a:t>
            </a:r>
            <a:r>
              <a:rPr lang="es-ES" dirty="0"/>
              <a:t>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8F16D-0319-CEE1-B1DA-FF209B93097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961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F7AA-D727-2182-2820-42749A70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06" y="15942"/>
            <a:ext cx="11348186" cy="926248"/>
          </a:xfrm>
        </p:spPr>
        <p:txBody>
          <a:bodyPr/>
          <a:lstStyle/>
          <a:p>
            <a:r>
              <a:rPr lang="es-ES" dirty="0"/>
              <a:t>Un ejemplo sencillo de </a:t>
            </a:r>
            <a:r>
              <a:rPr lang="es-ES" dirty="0" err="1"/>
              <a:t>TdC</a:t>
            </a:r>
            <a:r>
              <a:rPr lang="es-ES" dirty="0"/>
              <a:t>: Informatización de las Transacciones de Importación en Colombia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B8327-C9ED-E096-8866-95FD318D708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8</a:t>
            </a:fld>
            <a:endParaRPr lang="es-E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0F1D87-DEEC-FC87-3FCE-3806A42CD1F1}"/>
              </a:ext>
            </a:extLst>
          </p:cNvPr>
          <p:cNvGrpSpPr/>
          <p:nvPr/>
        </p:nvGrpSpPr>
        <p:grpSpPr>
          <a:xfrm>
            <a:off x="850652" y="909647"/>
            <a:ext cx="9756388" cy="600729"/>
            <a:chOff x="1625596" y="962318"/>
            <a:chExt cx="7693272" cy="5480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025BDB-48EF-4212-FF49-4620CA1FA89A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6" name="Arrow: Chevron 5">
                <a:extLst>
                  <a:ext uri="{FF2B5EF4-FFF2-40B4-BE49-F238E27FC236}">
                    <a16:creationId xmlns:a16="http://schemas.microsoft.com/office/drawing/2014/main" id="{74909B65-0CB7-1B59-78B3-64782E676CA7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D3D8609D-9A34-4C37-D471-0B76A58FA0D7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D21A1C-5AF7-B388-74FA-FA836F70F12E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C71D0853-E0DB-D70D-68C0-BFB44C423AF1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0" name="Arrow: Chevron 12">
                <a:extLst>
                  <a:ext uri="{FF2B5EF4-FFF2-40B4-BE49-F238E27FC236}">
                    <a16:creationId xmlns:a16="http://schemas.microsoft.com/office/drawing/2014/main" id="{8C9D0CCE-E29F-9C53-7F23-4375146A5074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4BA7594-CDBA-5AD7-AF49-559AEC34A35F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3DB27ABF-BED3-D9E8-7BAE-9905593C9E36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3" name="Arrow: Chevron 8">
                <a:extLst>
                  <a:ext uri="{FF2B5EF4-FFF2-40B4-BE49-F238E27FC236}">
                    <a16:creationId xmlns:a16="http://schemas.microsoft.com/office/drawing/2014/main" id="{9509C471-8756-93E8-55A2-19CEA1461952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4DC9BE-B8BD-6C14-6401-FA028C78AAE0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AB7B0695-B754-6C84-B172-7FDDEA527E33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Arrow: Chevron 10">
                <a:extLst>
                  <a:ext uri="{FF2B5EF4-FFF2-40B4-BE49-F238E27FC236}">
                    <a16:creationId xmlns:a16="http://schemas.microsoft.com/office/drawing/2014/main" id="{CC4D78AF-D491-E16A-C10A-CF0DC49575D7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BD4E2C39-D6AD-D7E7-3C08-8595DE215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274803"/>
              </p:ext>
            </p:extLst>
          </p:nvPr>
        </p:nvGraphicFramePr>
        <p:xfrm>
          <a:off x="519764" y="1492146"/>
          <a:ext cx="10224437" cy="2951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945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2672626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490933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490933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95114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Sustitución de la declaración de importaciones en papel por la informatizada.
Un programa informático que lo permita.
Una reorganización que limita y supervisa las interacciones directas.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Reducción del poder discrecional de los agentes de aduanas.</a:t>
                      </a:r>
                    </a:p>
                    <a:p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Menos control pero más inteligente de las importaciones.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Reducción de la burocracia en la aduana.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Facilitación de las importaciones en las aduanas tratadas.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Reducción de la corrupción</a:t>
                      </a:r>
                      <a:endParaRPr lang="en-US" sz="17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Aumento de la recaudación tributaria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Crecimiento económico de las empresas importadoras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Más crecimiento económico</a:t>
                      </a:r>
                      <a:endParaRPr lang="en-US" sz="1800" b="0" i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42631D9-5F88-86A2-B924-F148475DA432}"/>
              </a:ext>
            </a:extLst>
          </p:cNvPr>
          <p:cNvSpPr txBox="1"/>
          <p:nvPr/>
        </p:nvSpPr>
        <p:spPr>
          <a:xfrm rot="20069542">
            <a:off x="5604297" y="5316630"/>
            <a:ext cx="2801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Preferencia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revelada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las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aduanas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tratadas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6658DB-D615-9FF5-9FB5-B68657D43A2D}"/>
              </a:ext>
            </a:extLst>
          </p:cNvPr>
          <p:cNvSpPr txBox="1"/>
          <p:nvPr/>
        </p:nvSpPr>
        <p:spPr>
          <a:xfrm rot="20069542">
            <a:off x="3348645" y="5701489"/>
            <a:ext cx="2382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de importaciones con inspección física.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98217A-10BE-B56F-2624-C63B04579197}"/>
              </a:ext>
            </a:extLst>
          </p:cNvPr>
          <p:cNvSpPr txBox="1"/>
          <p:nvPr/>
        </p:nvSpPr>
        <p:spPr>
          <a:xfrm rot="20069542">
            <a:off x="5467439" y="4512318"/>
            <a:ext cx="26862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Efectos en el tiempo de despacho de aduanas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ED6DF6-3CD6-CDB6-8F06-017C43C38F3D}"/>
              </a:ext>
            </a:extLst>
          </p:cNvPr>
          <p:cNvSpPr txBox="1"/>
          <p:nvPr/>
        </p:nvSpPr>
        <p:spPr>
          <a:xfrm rot="20069542">
            <a:off x="6422835" y="5997647"/>
            <a:ext cx="1947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Casos judiciales de la DIAN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B955E3-3CB7-D3A4-B29E-14BC9FF5EC14}"/>
              </a:ext>
            </a:extLst>
          </p:cNvPr>
          <p:cNvSpPr txBox="1"/>
          <p:nvPr/>
        </p:nvSpPr>
        <p:spPr>
          <a:xfrm rot="20069542">
            <a:off x="8959783" y="5357538"/>
            <a:ext cx="20199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Indicadores de crecimiento de las empresas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BFE68-CE7D-0EBF-A8D5-8AFEC121E290}"/>
              </a:ext>
            </a:extLst>
          </p:cNvPr>
          <p:cNvSpPr txBox="1"/>
          <p:nvPr/>
        </p:nvSpPr>
        <p:spPr>
          <a:xfrm rot="20069542">
            <a:off x="8485738" y="4618163"/>
            <a:ext cx="1947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Recaudación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impuestos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8DC2EF-952F-6D64-AC49-A6134BEC9F0D}"/>
              </a:ext>
            </a:extLst>
          </p:cNvPr>
          <p:cNvSpPr txBox="1"/>
          <p:nvPr/>
        </p:nvSpPr>
        <p:spPr>
          <a:xfrm rot="20069542">
            <a:off x="1078868" y="5412237"/>
            <a:ext cx="1947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Información cualitativa sobre la reforma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126DF-8275-AAD0-B693-D6DD2BE2F277}"/>
              </a:ext>
            </a:extLst>
          </p:cNvPr>
          <p:cNvSpPr txBox="1"/>
          <p:nvPr/>
        </p:nvSpPr>
        <p:spPr>
          <a:xfrm rot="20069542">
            <a:off x="1019229" y="4682223"/>
            <a:ext cx="1947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Transacciones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informatizadas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51D5F6-4C85-E770-299E-D856134DAC73}"/>
              </a:ext>
            </a:extLst>
          </p:cNvPr>
          <p:cNvSpPr txBox="1"/>
          <p:nvPr/>
        </p:nvSpPr>
        <p:spPr>
          <a:xfrm rot="20069542">
            <a:off x="3269955" y="4800737"/>
            <a:ext cx="2225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Indicadores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poder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discrecional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21F726-EB24-54C7-E69F-A154FEFAC8DA}"/>
              </a:ext>
            </a:extLst>
          </p:cNvPr>
          <p:cNvSpPr txBox="1"/>
          <p:nvPr/>
        </p:nvSpPr>
        <p:spPr>
          <a:xfrm rot="19994210">
            <a:off x="123802" y="4783155"/>
            <a:ext cx="1435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 err="1">
                <a:solidFill>
                  <a:srgbClr val="4472C4">
                    <a:lumMod val="75000"/>
                  </a:srgbClr>
                </a:solidFill>
              </a:rPr>
              <a:t>Indicadores</a:t>
            </a:r>
            <a:endParaRPr lang="en-US" sz="2000" b="1" dirty="0">
              <a:solidFill>
                <a:srgbClr val="4472C4">
                  <a:lumMod val="75000"/>
                </a:srgb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573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40">
            <a:extLst>
              <a:ext uri="{FF2B5EF4-FFF2-40B4-BE49-F238E27FC236}">
                <a16:creationId xmlns:a16="http://schemas.microsoft.com/office/drawing/2014/main" id="{C2840186-C86E-CE2C-6AF1-CBB6A5F9D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674001"/>
              </p:ext>
            </p:extLst>
          </p:nvPr>
        </p:nvGraphicFramePr>
        <p:xfrm>
          <a:off x="1069627" y="4712049"/>
          <a:ext cx="9893548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771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3154753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3594024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2027079"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Implementación efectiva. 
El programa funciona bien.
Aprenda a hacer un buen uso de la información instantánea para diseñar controles + inteligentes.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hay forma alternativa para que los agentes de aduanas extraigan rentas o impongan nueva burocracia.
Las empresas no responden evitando las aduanas tratadas.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s-ES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coercitivo que colusorio.
Las empresas importan más una vez que se facilitan las importaciones.
</a:t>
                      </a:r>
                      <a:r>
                        <a:rPr lang="es-ES" sz="1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ayudan a las empresas importadoras a crecer.
No se compensa con la pérdida de no importadores.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6B1F7AA-D727-2182-2820-42749A70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24" y="15942"/>
            <a:ext cx="10958820" cy="926248"/>
          </a:xfrm>
        </p:spPr>
        <p:txBody>
          <a:bodyPr/>
          <a:lstStyle/>
          <a:p>
            <a:r>
              <a:rPr lang="en-US" dirty="0"/>
              <a:t>A simple example of Theory of Change:</a:t>
            </a:r>
            <a:br>
              <a:rPr lang="en-US" dirty="0"/>
            </a:br>
            <a:r>
              <a:rPr lang="en-US" dirty="0"/>
              <a:t>Computerization of Import Transactions in Colombia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B8327-C9ED-E096-8866-95FD318D7080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9</a:t>
            </a:fld>
            <a:endParaRPr lang="es-E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80F1D87-DEEC-FC87-3FCE-3806A42CD1F1}"/>
              </a:ext>
            </a:extLst>
          </p:cNvPr>
          <p:cNvGrpSpPr/>
          <p:nvPr/>
        </p:nvGrpSpPr>
        <p:grpSpPr>
          <a:xfrm>
            <a:off x="850652" y="909647"/>
            <a:ext cx="9756388" cy="600729"/>
            <a:chOff x="1625596" y="962318"/>
            <a:chExt cx="7693272" cy="5480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025BDB-48EF-4212-FF49-4620CA1FA89A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6" name="Arrow: Chevron 5">
                <a:extLst>
                  <a:ext uri="{FF2B5EF4-FFF2-40B4-BE49-F238E27FC236}">
                    <a16:creationId xmlns:a16="http://schemas.microsoft.com/office/drawing/2014/main" id="{74909B65-0CB7-1B59-78B3-64782E676CA7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D3D8609D-9A34-4C37-D471-0B76A58FA0D7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CD21A1C-5AF7-B388-74FA-FA836F70F12E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C71D0853-E0DB-D70D-68C0-BFB44C423AF1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0" name="Arrow: Chevron 12">
                <a:extLst>
                  <a:ext uri="{FF2B5EF4-FFF2-40B4-BE49-F238E27FC236}">
                    <a16:creationId xmlns:a16="http://schemas.microsoft.com/office/drawing/2014/main" id="{8C9D0CCE-E29F-9C53-7F23-4375146A5074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4BA7594-CDBA-5AD7-AF49-559AEC34A35F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3DB27ABF-BED3-D9E8-7BAE-9905593C9E36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3" name="Arrow: Chevron 8">
                <a:extLst>
                  <a:ext uri="{FF2B5EF4-FFF2-40B4-BE49-F238E27FC236}">
                    <a16:creationId xmlns:a16="http://schemas.microsoft.com/office/drawing/2014/main" id="{9509C471-8756-93E8-55A2-19CEA1461952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24DC9BE-B8BD-6C14-6401-FA028C78AAE0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15" name="Arrow: Chevron 14">
                <a:extLst>
                  <a:ext uri="{FF2B5EF4-FFF2-40B4-BE49-F238E27FC236}">
                    <a16:creationId xmlns:a16="http://schemas.microsoft.com/office/drawing/2014/main" id="{AB7B0695-B754-6C84-B172-7FDDEA527E33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Arrow: Chevron 10">
                <a:extLst>
                  <a:ext uri="{FF2B5EF4-FFF2-40B4-BE49-F238E27FC236}">
                    <a16:creationId xmlns:a16="http://schemas.microsoft.com/office/drawing/2014/main" id="{CC4D78AF-D491-E16A-C10A-CF0DC49575D7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BD4E2C39-D6AD-D7E7-3C08-8595DE215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936321"/>
              </p:ext>
            </p:extLst>
          </p:nvPr>
        </p:nvGraphicFramePr>
        <p:xfrm>
          <a:off x="850653" y="1492146"/>
          <a:ext cx="9893548" cy="3116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70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2688208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410320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410320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95114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Sustitución de la declaración de importaciones en papel por la informatizada.
Un programa informático que lo permita.
Una reorganización que limita y supervisa las interacciones directas.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Reducción del poder discrecional de los agentes de aduanas.</a:t>
                      </a:r>
                    </a:p>
                    <a:p>
                      <a:r>
                        <a:rPr lang="es-E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Menos control pero más inteligente de las importaciones.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Reducción de la burocracia en la aduana.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Facilitación de las importaciones en las aduanas tratadas.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Reducción de la corrupción</a:t>
                      </a:r>
                      <a:endParaRPr lang="en-US" sz="17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Aumento de la recaudación tributaria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Crecimiento económico de las empresas importadoras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
Más crecimiento económico</a:t>
                      </a:r>
                      <a:endParaRPr lang="en-US" sz="1800" b="0" i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83246960-1EB6-E8B5-AEB5-6DC575A81BC4}"/>
              </a:ext>
            </a:extLst>
          </p:cNvPr>
          <p:cNvSpPr/>
          <p:nvPr/>
        </p:nvSpPr>
        <p:spPr>
          <a:xfrm>
            <a:off x="7928820" y="443505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00CF26-AA52-175B-4702-81D386C85DF6}"/>
              </a:ext>
            </a:extLst>
          </p:cNvPr>
          <p:cNvSpPr txBox="1"/>
          <p:nvPr/>
        </p:nvSpPr>
        <p:spPr>
          <a:xfrm>
            <a:off x="-90696" y="4958627"/>
            <a:ext cx="1435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 err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Supuestos</a:t>
            </a:r>
            <a:endParaRPr lang="en-US" sz="2000" b="1" dirty="0">
              <a:solidFill>
                <a:srgbClr val="4472C4">
                  <a:lumMod val="75000"/>
                </a:srgbClr>
              </a:solidFill>
              <a:latin typeface="Calibri" panose="020F0502020204030204"/>
            </a:endParaRP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37D695A7-B258-A7BE-DC5B-652AD0D5C945}"/>
              </a:ext>
            </a:extLst>
          </p:cNvPr>
          <p:cNvSpPr/>
          <p:nvPr/>
        </p:nvSpPr>
        <p:spPr>
          <a:xfrm>
            <a:off x="2817314" y="443505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303B7A0E-16C6-8127-5F9F-BA93B24C7CAE}"/>
              </a:ext>
            </a:extLst>
          </p:cNvPr>
          <p:cNvSpPr/>
          <p:nvPr/>
        </p:nvSpPr>
        <p:spPr>
          <a:xfrm>
            <a:off x="5489827" y="443505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45683-A02F-F13E-E644-72E310BBC7EF}"/>
              </a:ext>
            </a:extLst>
          </p:cNvPr>
          <p:cNvSpPr txBox="1"/>
          <p:nvPr/>
        </p:nvSpPr>
        <p:spPr>
          <a:xfrm>
            <a:off x="3936945" y="6441948"/>
            <a:ext cx="3720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Desplazamiento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importaciones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E3B0B5-5C51-DBFB-76F4-287AD7D14A4E}"/>
              </a:ext>
            </a:extLst>
          </p:cNvPr>
          <p:cNvSpPr txBox="1"/>
          <p:nvPr/>
        </p:nvSpPr>
        <p:spPr>
          <a:xfrm rot="20069542">
            <a:off x="10171693" y="3837463"/>
            <a:ext cx="1947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coercitivas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colusorias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A9436-F008-09FF-6AFB-BD30CCB19BB2}"/>
              </a:ext>
            </a:extLst>
          </p:cNvPr>
          <p:cNvSpPr txBox="1"/>
          <p:nvPr/>
        </p:nvSpPr>
        <p:spPr>
          <a:xfrm>
            <a:off x="9362950" y="5836567"/>
            <a:ext cx="2065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Efectos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sobre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importadores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C42D29-E028-CEB5-D9A5-0659D5290134}"/>
              </a:ext>
            </a:extLst>
          </p:cNvPr>
          <p:cNvSpPr txBox="1"/>
          <p:nvPr/>
        </p:nvSpPr>
        <p:spPr>
          <a:xfrm>
            <a:off x="1534655" y="6426262"/>
            <a:ext cx="2735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Evidencia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cualitativa</a:t>
            </a:r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66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7B13-A35F-CC4F-EDF2-96505DDA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86" y="77884"/>
            <a:ext cx="11103222" cy="612328"/>
          </a:xfrm>
        </p:spPr>
        <p:txBody>
          <a:bodyPr/>
          <a:lstStyle/>
          <a:p>
            <a:r>
              <a:rPr lang="es-ES" dirty="0"/>
              <a:t>Estrategias de mitigación (en el diseño del proyecto)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2E3F7-A4A7-9177-252D-4C5995E7C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464" y="690212"/>
            <a:ext cx="11103222" cy="578374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s-ES" dirty="0"/>
              <a:t>Una estrategia de mitigación se refiere a un enfoque o plan sistemático diseñado para </a:t>
            </a:r>
            <a:r>
              <a:rPr lang="es-ES" u="sng" dirty="0"/>
              <a:t>reducir la probabilidad o prevenir las consecuencias negativas de un riesgo</a:t>
            </a:r>
            <a:r>
              <a:rPr lang="es-ES" dirty="0"/>
              <a:t> o amenaza en particular. 
Las estrategias de mitigación se desarrollan para </a:t>
            </a:r>
            <a:r>
              <a:rPr lang="es-ES" u="sng" dirty="0"/>
              <a:t>abordar los posibles efectos adversos antes de que ocurran</a:t>
            </a:r>
            <a:r>
              <a:rPr lang="es-ES" dirty="0"/>
              <a:t>.
Después de una </a:t>
            </a:r>
            <a:r>
              <a:rPr lang="es-ES" dirty="0" err="1"/>
              <a:t>TdC</a:t>
            </a:r>
            <a:r>
              <a:rPr lang="es-ES" dirty="0"/>
              <a:t> y teniendo clara la hipótesis necesaria para su éxito. Para cada una de estas hipótesis, puedes preguntarte:
¿Cómo maximizar las posibilidades de que la </a:t>
            </a:r>
            <a:r>
              <a:rPr lang="es-ES" u="sng" dirty="0"/>
              <a:t>hipótesis se cumpla</a:t>
            </a:r>
            <a:r>
              <a:rPr lang="es-ES" dirty="0"/>
              <a:t>?
¿Qué se puede hacer para </a:t>
            </a:r>
            <a:r>
              <a:rPr lang="es-ES" u="sng" dirty="0"/>
              <a:t>mitigar las consecuencias si no se satisface</a:t>
            </a:r>
            <a:r>
              <a:rPr lang="es-ES" dirty="0"/>
              <a:t>?
Las respuestas a estas preguntas pueden ser </a:t>
            </a:r>
            <a:r>
              <a:rPr lang="es-ES" u="sng" dirty="0"/>
              <a:t>parte de su estrategia de mitigación</a:t>
            </a:r>
            <a:r>
              <a:rPr lang="es-ES" dirty="0"/>
              <a:t>. 
</a:t>
            </a:r>
            <a:r>
              <a:rPr lang="es-ES" dirty="0">
                <a:solidFill>
                  <a:srgbClr val="00B0F0"/>
                </a:solidFill>
              </a:rPr>
              <a:t>Ejemplo aduanero: Suficiente </a:t>
            </a:r>
            <a:r>
              <a:rPr lang="es-ES" u="sng" dirty="0">
                <a:solidFill>
                  <a:srgbClr val="00B0F0"/>
                </a:solidFill>
              </a:rPr>
              <a:t>experiencia en programación </a:t>
            </a:r>
            <a:r>
              <a:rPr lang="es-ES" dirty="0">
                <a:solidFill>
                  <a:srgbClr val="00B0F0"/>
                </a:solidFill>
              </a:rPr>
              <a:t>y </a:t>
            </a:r>
            <a:r>
              <a:rPr lang="es-ES" u="sng" dirty="0">
                <a:solidFill>
                  <a:srgbClr val="00B0F0"/>
                </a:solidFill>
              </a:rPr>
              <a:t>diseño de la reforma</a:t>
            </a:r>
            <a:r>
              <a:rPr lang="es-ES" dirty="0">
                <a:solidFill>
                  <a:srgbClr val="00B0F0"/>
                </a:solidFill>
              </a:rPr>
              <a:t>. </a:t>
            </a:r>
            <a:r>
              <a:rPr lang="es-ES" u="sng" dirty="0">
                <a:solidFill>
                  <a:srgbClr val="00B0F0"/>
                </a:solidFill>
              </a:rPr>
              <a:t>Programa no manipulable</a:t>
            </a:r>
            <a:r>
              <a:rPr lang="es-ES" dirty="0">
                <a:solidFill>
                  <a:srgbClr val="00B0F0"/>
                </a:solidFill>
              </a:rPr>
              <a:t>. </a:t>
            </a:r>
            <a:r>
              <a:rPr lang="es-ES" u="sng" dirty="0">
                <a:solidFill>
                  <a:srgbClr val="00B0F0"/>
                </a:solidFill>
              </a:rPr>
              <a:t>Nuevos controles </a:t>
            </a:r>
            <a:r>
              <a:rPr lang="es-ES" dirty="0">
                <a:solidFill>
                  <a:srgbClr val="00B0F0"/>
                </a:solidFill>
              </a:rPr>
              <a:t>y equilibrios.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8660F-A1B7-4273-51A3-26042CCB0B2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68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7B13-A35F-CC4F-EDF2-96505DDA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7" y="274640"/>
            <a:ext cx="11164824" cy="712912"/>
          </a:xfrm>
        </p:spPr>
        <p:txBody>
          <a:bodyPr/>
          <a:lstStyle/>
          <a:p>
            <a:r>
              <a:rPr lang="en-US" dirty="0"/>
              <a:t>2ª </a:t>
            </a:r>
            <a:r>
              <a:rPr lang="en-US" dirty="0" err="1"/>
              <a:t>Aplicación</a:t>
            </a:r>
            <a:r>
              <a:rPr lang="en-US" dirty="0"/>
              <a:t>: Index based Livestock Insurance (IBLI)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2E3F7-A4A7-9177-252D-4C5995E7C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5" y="1188720"/>
            <a:ext cx="10100060" cy="528523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s-ES" dirty="0"/>
              <a:t>Innovación IBLI desarrollada por ILRI, Cornell, </a:t>
            </a:r>
            <a:r>
              <a:rPr lang="es-ES" dirty="0" err="1"/>
              <a:t>UCDavis</a:t>
            </a:r>
            <a:r>
              <a:rPr lang="es-ES" dirty="0"/>
              <a:t> y ahora promovida por aseguradoras privadas
Su objetivo es proteger a los pastores de las pérdidas relacionadas con la sequía
Los pagos se basan en un índice que predice la mortalidad del ganado debido a cambios en la disponibilidad de piensos y forrajes. 
Índice obtenido a través de datos de teledetección (NDVI)
La cuota anual representa alrededor del 14% del valor del ganado 
El IBLI ha sido ampliamente adoptado en Kenia y Etiopía, pero quedan preguntas sobre la adopción/</a:t>
            </a:r>
            <a:r>
              <a:rPr lang="es-ES" dirty="0" err="1"/>
              <a:t>desadopción</a:t>
            </a:r>
            <a:r>
              <a:rPr lang="es-ES" dirty="0"/>
              <a:t> y los impactos a largo plazo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8660F-A1B7-4273-51A3-26042CCB0B28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4262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9C18-3BF0-B70B-D217-C2651B02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47" y="-39809"/>
            <a:ext cx="9956801" cy="628897"/>
          </a:xfrm>
        </p:spPr>
        <p:txBody>
          <a:bodyPr/>
          <a:lstStyle/>
          <a:p>
            <a:r>
              <a:rPr lang="en-US" dirty="0"/>
              <a:t>Theory of Change applied to the IBLI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DD259-90BC-4C71-D8D1-13A3377974B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12</a:t>
            </a:fld>
            <a:endParaRPr lang="es-ES"/>
          </a:p>
        </p:txBody>
      </p: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EF3C20C4-F9C8-8ACE-BC70-F8B520803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2159"/>
              </p:ext>
            </p:extLst>
          </p:nvPr>
        </p:nvGraphicFramePr>
        <p:xfrm>
          <a:off x="281355" y="1453541"/>
          <a:ext cx="11370131" cy="236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72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3046303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845053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695055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369820"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Insurance companies offer their insurance plans to pastoralists</a:t>
                      </a:r>
                    </a:p>
                    <a:p>
                      <a:endParaRPr lang="en-US" sz="1800" b="0" baseline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coupons available to incentivize uptake (at initial stage)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buy IBLI</a:t>
                      </a:r>
                    </a:p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Payouts triggered when droughts occur.</a:t>
                      </a:r>
                    </a:p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increase product understanding and trust</a:t>
                      </a:r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insurance agents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Sustained use of the insurance over time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livestock investments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distress animal</a:t>
                      </a:r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sales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household income from livestock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 increase in livestock production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food security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resilience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Poverty reduction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aphicFrame>
        <p:nvGraphicFramePr>
          <p:cNvPr id="18" name="Table 40">
            <a:extLst>
              <a:ext uri="{FF2B5EF4-FFF2-40B4-BE49-F238E27FC236}">
                <a16:creationId xmlns:a16="http://schemas.microsoft.com/office/drawing/2014/main" id="{5404282F-5A0A-F80B-6EE3-95E016A74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864885"/>
              </p:ext>
            </p:extLst>
          </p:nvPr>
        </p:nvGraphicFramePr>
        <p:xfrm>
          <a:off x="961292" y="4213540"/>
          <a:ext cx="9877391" cy="250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80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3968708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2916303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226932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Drought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costly risk for livestock producers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 have a basic understanding of IBLI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have sufficient initial interest, ability and willingness to pay for IBLI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basis risk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are better off with the insurance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IBLI stabilizes and increases ability and WTP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risk encourages investments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Farmers adapt long term behavior and asset accumulation as a reaction to risk reduction.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Becomes a well functioning and independent market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410916FA-5490-45ED-EDDC-0FB0EAF3E5A7}"/>
              </a:ext>
            </a:extLst>
          </p:cNvPr>
          <p:cNvSpPr/>
          <p:nvPr/>
        </p:nvSpPr>
        <p:spPr>
          <a:xfrm>
            <a:off x="8715068" y="3885712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932B5-047E-2459-45EE-CDBB67E29912}"/>
              </a:ext>
            </a:extLst>
          </p:cNvPr>
          <p:cNvSpPr txBox="1"/>
          <p:nvPr/>
        </p:nvSpPr>
        <p:spPr>
          <a:xfrm>
            <a:off x="63787" y="4687814"/>
            <a:ext cx="101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Hypothesis</a:t>
            </a: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A8FD951D-403E-6E29-F957-79CE4754FE4D}"/>
              </a:ext>
            </a:extLst>
          </p:cNvPr>
          <p:cNvSpPr/>
          <p:nvPr/>
        </p:nvSpPr>
        <p:spPr>
          <a:xfrm>
            <a:off x="2640068" y="390000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72031D69-1202-F5A0-A95E-66B6B25CA3A7}"/>
              </a:ext>
            </a:extLst>
          </p:cNvPr>
          <p:cNvSpPr/>
          <p:nvPr/>
        </p:nvSpPr>
        <p:spPr>
          <a:xfrm>
            <a:off x="5677568" y="390000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A1E99F-A918-4408-66EB-9D0A2E5079A1}"/>
              </a:ext>
            </a:extLst>
          </p:cNvPr>
          <p:cNvGrpSpPr/>
          <p:nvPr/>
        </p:nvGrpSpPr>
        <p:grpSpPr>
          <a:xfrm>
            <a:off x="961292" y="606310"/>
            <a:ext cx="9683262" cy="787814"/>
            <a:chOff x="1625596" y="962318"/>
            <a:chExt cx="7693272" cy="5480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BE378A4-5389-3CC0-F579-9EBB48CF195B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34" name="Arrow: Chevron 33">
                <a:extLst>
                  <a:ext uri="{FF2B5EF4-FFF2-40B4-BE49-F238E27FC236}">
                    <a16:creationId xmlns:a16="http://schemas.microsoft.com/office/drawing/2014/main" id="{DBA1859D-61EB-2D21-70A4-5B80181A0CBB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Arrow: Chevron 6">
                <a:extLst>
                  <a:ext uri="{FF2B5EF4-FFF2-40B4-BE49-F238E27FC236}">
                    <a16:creationId xmlns:a16="http://schemas.microsoft.com/office/drawing/2014/main" id="{CBD94CFA-321E-3F40-D802-1B493980067E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C2F9530-EC68-BCF9-910A-CD2DA210E9E2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3C65E9BE-5D40-28AD-FF54-4825F3DCCAED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Arrow: Chevron 12">
                <a:extLst>
                  <a:ext uri="{FF2B5EF4-FFF2-40B4-BE49-F238E27FC236}">
                    <a16:creationId xmlns:a16="http://schemas.microsoft.com/office/drawing/2014/main" id="{B559D16C-C61C-EB44-08FD-1C30CE1CAB17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0939A4C-8CF2-ABC6-8CA1-D61E7C32D818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134D0BE2-2E2F-3C74-9EFB-B66C6A93B3ED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Arrow: Chevron 8">
                <a:extLst>
                  <a:ext uri="{FF2B5EF4-FFF2-40B4-BE49-F238E27FC236}">
                    <a16:creationId xmlns:a16="http://schemas.microsoft.com/office/drawing/2014/main" id="{B96DB984-0F77-75D5-6B92-5D6EDA4DC1B5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1781497-FA8E-39B6-1A22-D6406127792C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9DC1B2B6-585F-178B-AA84-F96408943CC5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Arrow: Chevron 10">
                <a:extLst>
                  <a:ext uri="{FF2B5EF4-FFF2-40B4-BE49-F238E27FC236}">
                    <a16:creationId xmlns:a16="http://schemas.microsoft.com/office/drawing/2014/main" id="{C9BEC860-E0CF-4421-CB19-FC777D883E99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5034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9C18-3BF0-B70B-D217-C2651B02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47" y="-39809"/>
            <a:ext cx="9956801" cy="628897"/>
          </a:xfrm>
        </p:spPr>
        <p:txBody>
          <a:bodyPr/>
          <a:lstStyle/>
          <a:p>
            <a:r>
              <a:rPr lang="en-US" dirty="0"/>
              <a:t>Theory of Change applied to the IBLI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DD259-90BC-4C71-D8D1-13A3377974B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>
          <a:xfrm>
            <a:off x="10838684" y="5734046"/>
            <a:ext cx="913788" cy="521208"/>
          </a:xfrm>
        </p:spPr>
        <p:txBody>
          <a:bodyPr/>
          <a:lstStyle/>
          <a:p>
            <a:pPr lvl="0"/>
            <a:fld id="{5038240A-9816-4AC4-8056-C99BBEDE9E36}" type="slidenum">
              <a:rPr lang="es-ES" sz="2000" smtClean="0"/>
              <a:t>13</a:t>
            </a:fld>
            <a:endParaRPr lang="es-ES" sz="2000"/>
          </a:p>
        </p:txBody>
      </p: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EF3C20C4-F9C8-8ACE-BC70-F8B5208036C1}"/>
              </a:ext>
            </a:extLst>
          </p:cNvPr>
          <p:cNvGraphicFramePr>
            <a:graphicFrameLocks noGrp="1"/>
          </p:cNvGraphicFramePr>
          <p:nvPr/>
        </p:nvGraphicFramePr>
        <p:xfrm>
          <a:off x="281355" y="1453541"/>
          <a:ext cx="11370131" cy="236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72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3046303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845053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695055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369820"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Insurance companies offer their insurance plans to pastoralists</a:t>
                      </a:r>
                    </a:p>
                    <a:p>
                      <a:endParaRPr lang="en-US" sz="1800" b="0" baseline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coupons available to incentivize uptake (at initial stage)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buy IBLI</a:t>
                      </a:r>
                    </a:p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Payouts triggered when droughts occur.</a:t>
                      </a:r>
                    </a:p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increase product understanding and trust</a:t>
                      </a:r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insurance agents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Sustained use of the insurance over time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livestock investments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distress animal</a:t>
                      </a:r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sales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household income from livestock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 increase in livestock production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food security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resilience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Poverty reduction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92A1E99F-A918-4408-66EB-9D0A2E5079A1}"/>
              </a:ext>
            </a:extLst>
          </p:cNvPr>
          <p:cNvGrpSpPr/>
          <p:nvPr/>
        </p:nvGrpSpPr>
        <p:grpSpPr>
          <a:xfrm>
            <a:off x="961292" y="606310"/>
            <a:ext cx="9683262" cy="787814"/>
            <a:chOff x="1625596" y="962318"/>
            <a:chExt cx="7693272" cy="5480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BE378A4-5389-3CC0-F579-9EBB48CF195B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34" name="Arrow: Chevron 33">
                <a:extLst>
                  <a:ext uri="{FF2B5EF4-FFF2-40B4-BE49-F238E27FC236}">
                    <a16:creationId xmlns:a16="http://schemas.microsoft.com/office/drawing/2014/main" id="{DBA1859D-61EB-2D21-70A4-5B80181A0CBB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Arrow: Chevron 6">
                <a:extLst>
                  <a:ext uri="{FF2B5EF4-FFF2-40B4-BE49-F238E27FC236}">
                    <a16:creationId xmlns:a16="http://schemas.microsoft.com/office/drawing/2014/main" id="{CBD94CFA-321E-3F40-D802-1B493980067E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C2F9530-EC68-BCF9-910A-CD2DA210E9E2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3C65E9BE-5D40-28AD-FF54-4825F3DCCAED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Arrow: Chevron 12">
                <a:extLst>
                  <a:ext uri="{FF2B5EF4-FFF2-40B4-BE49-F238E27FC236}">
                    <a16:creationId xmlns:a16="http://schemas.microsoft.com/office/drawing/2014/main" id="{B559D16C-C61C-EB44-08FD-1C30CE1CAB17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0939A4C-8CF2-ABC6-8CA1-D61E7C32D818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134D0BE2-2E2F-3C74-9EFB-B66C6A93B3ED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Arrow: Chevron 8">
                <a:extLst>
                  <a:ext uri="{FF2B5EF4-FFF2-40B4-BE49-F238E27FC236}">
                    <a16:creationId xmlns:a16="http://schemas.microsoft.com/office/drawing/2014/main" id="{B96DB984-0F77-75D5-6B92-5D6EDA4DC1B5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1781497-FA8E-39B6-1A22-D6406127792C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9DC1B2B6-585F-178B-AA84-F96408943CC5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Arrow: Chevron 10">
                <a:extLst>
                  <a:ext uri="{FF2B5EF4-FFF2-40B4-BE49-F238E27FC236}">
                    <a16:creationId xmlns:a16="http://schemas.microsoft.com/office/drawing/2014/main" id="{C9BEC860-E0CF-4421-CB19-FC777D883E99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D75937-001F-F4F1-716B-DD4158DD9A3A}"/>
              </a:ext>
            </a:extLst>
          </p:cNvPr>
          <p:cNvSpPr txBox="1"/>
          <p:nvPr/>
        </p:nvSpPr>
        <p:spPr>
          <a:xfrm>
            <a:off x="66300" y="3947995"/>
            <a:ext cx="1588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00B050"/>
                </a:solidFill>
                <a:latin typeface="Calibri" panose="020F0502020204030204"/>
              </a:rPr>
              <a:t>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FC298-6870-BB8A-00A2-93384F7DD9A4}"/>
              </a:ext>
            </a:extLst>
          </p:cNvPr>
          <p:cNvSpPr txBox="1"/>
          <p:nvPr/>
        </p:nvSpPr>
        <p:spPr>
          <a:xfrm rot="20069542">
            <a:off x="906158" y="5581470"/>
            <a:ext cx="218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discount coupons provided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5E890C-0D6C-3FEB-8452-4437954B15AC}"/>
              </a:ext>
            </a:extLst>
          </p:cNvPr>
          <p:cNvSpPr txBox="1"/>
          <p:nvPr/>
        </p:nvSpPr>
        <p:spPr>
          <a:xfrm rot="20069542">
            <a:off x="835184" y="4276458"/>
            <a:ext cx="21899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Pastoralists to whom insurance was introduced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5CEF2-CB1F-5520-6127-D691F5A7C26B}"/>
              </a:ext>
            </a:extLst>
          </p:cNvPr>
          <p:cNvSpPr txBox="1"/>
          <p:nvPr/>
        </p:nvSpPr>
        <p:spPr>
          <a:xfrm rot="20069542">
            <a:off x="3712638" y="5324883"/>
            <a:ext cx="2189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Payouts triggered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78B73-7F02-4462-7950-346ED8832E2D}"/>
              </a:ext>
            </a:extLst>
          </p:cNvPr>
          <p:cNvSpPr txBox="1"/>
          <p:nvPr/>
        </p:nvSpPr>
        <p:spPr>
          <a:xfrm rot="20069542">
            <a:off x="9410201" y="4241383"/>
            <a:ext cx="2189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B2F22-0C9D-8451-9FD0-20CDEE68FB85}"/>
              </a:ext>
            </a:extLst>
          </p:cNvPr>
          <p:cNvSpPr txBox="1"/>
          <p:nvPr/>
        </p:nvSpPr>
        <p:spPr>
          <a:xfrm rot="20069542">
            <a:off x="9476468" y="5083270"/>
            <a:ext cx="2189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96FAC-D99C-6D79-09F8-9FB3BC243BC4}"/>
              </a:ext>
            </a:extLst>
          </p:cNvPr>
          <p:cNvSpPr txBox="1"/>
          <p:nvPr/>
        </p:nvSpPr>
        <p:spPr>
          <a:xfrm rot="20069542">
            <a:off x="3613234" y="4232079"/>
            <a:ext cx="2189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pastoralists who purchase IBLI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F005C0-62E4-52F9-8BFA-163D8F6AC3CD}"/>
              </a:ext>
            </a:extLst>
          </p:cNvPr>
          <p:cNvSpPr txBox="1"/>
          <p:nvPr/>
        </p:nvSpPr>
        <p:spPr>
          <a:xfrm rot="20069542">
            <a:off x="6780669" y="4254048"/>
            <a:ext cx="1711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Livestock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94C060-7151-5635-1D09-F533D92711F6}"/>
              </a:ext>
            </a:extLst>
          </p:cNvPr>
          <p:cNvSpPr txBox="1"/>
          <p:nvPr/>
        </p:nvSpPr>
        <p:spPr>
          <a:xfrm rot="20069542">
            <a:off x="6780668" y="5056353"/>
            <a:ext cx="1711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from livestock</a:t>
            </a:r>
          </a:p>
        </p:txBody>
      </p:sp>
    </p:spTree>
    <p:extLst>
      <p:ext uri="{BB962C8B-B14F-4D97-AF65-F5344CB8AC3E}">
        <p14:creationId xmlns:p14="http://schemas.microsoft.com/office/powerpoint/2010/main" val="254143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9C18-3BF0-B70B-D217-C2651B02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47" y="-39809"/>
            <a:ext cx="9956801" cy="628897"/>
          </a:xfrm>
        </p:spPr>
        <p:txBody>
          <a:bodyPr/>
          <a:lstStyle/>
          <a:p>
            <a:r>
              <a:rPr lang="en-US" dirty="0"/>
              <a:t>Theory of Change applied to the IBLI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DD259-90BC-4C71-D8D1-13A3377974B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14</a:t>
            </a:fld>
            <a:endParaRPr lang="es-ES"/>
          </a:p>
        </p:txBody>
      </p: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EF3C20C4-F9C8-8ACE-BC70-F8B5208036C1}"/>
              </a:ext>
            </a:extLst>
          </p:cNvPr>
          <p:cNvGraphicFramePr>
            <a:graphicFrameLocks noGrp="1"/>
          </p:cNvGraphicFramePr>
          <p:nvPr/>
        </p:nvGraphicFramePr>
        <p:xfrm>
          <a:off x="281355" y="1453541"/>
          <a:ext cx="11370131" cy="236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72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3046303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845053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695055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369820"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Insurance companies offer their insurance plans to pastoralists</a:t>
                      </a:r>
                    </a:p>
                    <a:p>
                      <a:endParaRPr lang="en-US" sz="1800" b="0" baseline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coupons available to incentivize uptake (at initial stage)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buy IBLI</a:t>
                      </a:r>
                    </a:p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Payouts triggered when droughts occur.</a:t>
                      </a:r>
                    </a:p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increase product understanding and trust</a:t>
                      </a:r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insurance agents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Sustained use of the insurance over time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 livestock investments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distress animal</a:t>
                      </a:r>
                      <a:r>
                        <a:rPr lang="en-US" sz="1800" b="0" baseline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sales</a:t>
                      </a: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household income from livestock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Sustainable increase in livestock production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food security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resilience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Poverty reduction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aphicFrame>
        <p:nvGraphicFramePr>
          <p:cNvPr id="18" name="Table 40">
            <a:extLst>
              <a:ext uri="{FF2B5EF4-FFF2-40B4-BE49-F238E27FC236}">
                <a16:creationId xmlns:a16="http://schemas.microsoft.com/office/drawing/2014/main" id="{5404282F-5A0A-F80B-6EE3-95E016A74018}"/>
              </a:ext>
            </a:extLst>
          </p:cNvPr>
          <p:cNvGraphicFramePr>
            <a:graphicFrameLocks noGrp="1"/>
          </p:cNvGraphicFramePr>
          <p:nvPr/>
        </p:nvGraphicFramePr>
        <p:xfrm>
          <a:off x="961292" y="4213540"/>
          <a:ext cx="9877391" cy="250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80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3968708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2916303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226932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Drought</a:t>
                      </a:r>
                      <a:r>
                        <a:rPr lang="en-US" sz="20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 costly risk for livestock producers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 have a basic understanding of IBLI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have sufficient initial interest, ability and willingness to pay for IBLI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basis risk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Pastoralists are better off with the insurance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IBLI stabilizes and increases ability and WTP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risk encourages investments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Farmers adapt long term behavior and asset accumulation as a reaction to risk reduction.</a:t>
                      </a:r>
                    </a:p>
                    <a:p>
                      <a:pPr marL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Becomes a well functioning and independent market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410916FA-5490-45ED-EDDC-0FB0EAF3E5A7}"/>
              </a:ext>
            </a:extLst>
          </p:cNvPr>
          <p:cNvSpPr/>
          <p:nvPr/>
        </p:nvSpPr>
        <p:spPr>
          <a:xfrm>
            <a:off x="8715068" y="3885712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932B5-047E-2459-45EE-CDBB67E29912}"/>
              </a:ext>
            </a:extLst>
          </p:cNvPr>
          <p:cNvSpPr txBox="1"/>
          <p:nvPr/>
        </p:nvSpPr>
        <p:spPr>
          <a:xfrm>
            <a:off x="63787" y="4687814"/>
            <a:ext cx="101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b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Hypothesis</a:t>
            </a: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A8FD951D-403E-6E29-F957-79CE4754FE4D}"/>
              </a:ext>
            </a:extLst>
          </p:cNvPr>
          <p:cNvSpPr/>
          <p:nvPr/>
        </p:nvSpPr>
        <p:spPr>
          <a:xfrm>
            <a:off x="2640068" y="390000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72031D69-1202-F5A0-A95E-66B6B25CA3A7}"/>
              </a:ext>
            </a:extLst>
          </p:cNvPr>
          <p:cNvSpPr/>
          <p:nvPr/>
        </p:nvSpPr>
        <p:spPr>
          <a:xfrm>
            <a:off x="5677568" y="390000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A1E99F-A918-4408-66EB-9D0A2E5079A1}"/>
              </a:ext>
            </a:extLst>
          </p:cNvPr>
          <p:cNvGrpSpPr/>
          <p:nvPr/>
        </p:nvGrpSpPr>
        <p:grpSpPr>
          <a:xfrm>
            <a:off x="961292" y="606310"/>
            <a:ext cx="9683262" cy="787814"/>
            <a:chOff x="1625596" y="962318"/>
            <a:chExt cx="7693272" cy="5480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BE378A4-5389-3CC0-F579-9EBB48CF195B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34" name="Arrow: Chevron 33">
                <a:extLst>
                  <a:ext uri="{FF2B5EF4-FFF2-40B4-BE49-F238E27FC236}">
                    <a16:creationId xmlns:a16="http://schemas.microsoft.com/office/drawing/2014/main" id="{DBA1859D-61EB-2D21-70A4-5B80181A0CBB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Arrow: Chevron 6">
                <a:extLst>
                  <a:ext uri="{FF2B5EF4-FFF2-40B4-BE49-F238E27FC236}">
                    <a16:creationId xmlns:a16="http://schemas.microsoft.com/office/drawing/2014/main" id="{CBD94CFA-321E-3F40-D802-1B493980067E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C2F9530-EC68-BCF9-910A-CD2DA210E9E2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3C65E9BE-5D40-28AD-FF54-4825F3DCCAED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Arrow: Chevron 12">
                <a:extLst>
                  <a:ext uri="{FF2B5EF4-FFF2-40B4-BE49-F238E27FC236}">
                    <a16:creationId xmlns:a16="http://schemas.microsoft.com/office/drawing/2014/main" id="{B559D16C-C61C-EB44-08FD-1C30CE1CAB17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0939A4C-8CF2-ABC6-8CA1-D61E7C32D818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134D0BE2-2E2F-3C74-9EFB-B66C6A93B3ED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Arrow: Chevron 8">
                <a:extLst>
                  <a:ext uri="{FF2B5EF4-FFF2-40B4-BE49-F238E27FC236}">
                    <a16:creationId xmlns:a16="http://schemas.microsoft.com/office/drawing/2014/main" id="{B96DB984-0F77-75D5-6B92-5D6EDA4DC1B5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1781497-FA8E-39B6-1A22-D6406127792C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9DC1B2B6-585F-178B-AA84-F96408943CC5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Arrow: Chevron 10">
                <a:extLst>
                  <a:ext uri="{FF2B5EF4-FFF2-40B4-BE49-F238E27FC236}">
                    <a16:creationId xmlns:a16="http://schemas.microsoft.com/office/drawing/2014/main" id="{C9BEC860-E0CF-4421-CB19-FC777D883E99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A74316-5744-A072-3880-842F524D263A}"/>
              </a:ext>
            </a:extLst>
          </p:cNvPr>
          <p:cNvSpPr txBox="1"/>
          <p:nvPr/>
        </p:nvSpPr>
        <p:spPr>
          <a:xfrm rot="20069542">
            <a:off x="104557" y="3856363"/>
            <a:ext cx="1947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Qualitative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8A240-A244-BAA3-5A22-BA6869856604}"/>
              </a:ext>
            </a:extLst>
          </p:cNvPr>
          <p:cNvSpPr txBox="1"/>
          <p:nvPr/>
        </p:nvSpPr>
        <p:spPr>
          <a:xfrm rot="20069542">
            <a:off x="-97932" y="5251658"/>
            <a:ext cx="1947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Cash constraint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5086A-4D38-327D-14E1-3C04D7E44C34}"/>
              </a:ext>
            </a:extLst>
          </p:cNvPr>
          <p:cNvSpPr txBox="1"/>
          <p:nvPr/>
        </p:nvSpPr>
        <p:spPr>
          <a:xfrm rot="20069542">
            <a:off x="6179992" y="5424365"/>
            <a:ext cx="19479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aversion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313C7-FDFA-BFA8-04CC-0341A29D2DD5}"/>
              </a:ext>
            </a:extLst>
          </p:cNvPr>
          <p:cNvSpPr txBox="1"/>
          <p:nvPr/>
        </p:nvSpPr>
        <p:spPr>
          <a:xfrm rot="20069542">
            <a:off x="-200723" y="6122399"/>
            <a:ext cx="1947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Coupons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26BAC6-E9CC-A8A7-6BFF-29E2F06CA5E1}"/>
              </a:ext>
            </a:extLst>
          </p:cNvPr>
          <p:cNvSpPr/>
          <p:nvPr/>
        </p:nvSpPr>
        <p:spPr>
          <a:xfrm>
            <a:off x="855785" y="5572294"/>
            <a:ext cx="3200399" cy="128570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BF797-E99A-5B1F-9B6F-C3A24D82B4E0}"/>
              </a:ext>
            </a:extLst>
          </p:cNvPr>
          <p:cNvSpPr txBox="1"/>
          <p:nvPr/>
        </p:nvSpPr>
        <p:spPr>
          <a:xfrm rot="20069542">
            <a:off x="5686717" y="4085132"/>
            <a:ext cx="2746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Livestock losses vs payments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E5DF9-78E0-DB3B-6CA4-73859BFEAFEF}"/>
              </a:ext>
            </a:extLst>
          </p:cNvPr>
          <p:cNvSpPr txBox="1"/>
          <p:nvPr/>
        </p:nvSpPr>
        <p:spPr>
          <a:xfrm rot="20069542">
            <a:off x="9623123" y="4705464"/>
            <a:ext cx="2168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term follow-up</a:t>
            </a:r>
          </a:p>
        </p:txBody>
      </p:sp>
    </p:spTree>
    <p:extLst>
      <p:ext uri="{BB962C8B-B14F-4D97-AF65-F5344CB8AC3E}">
        <p14:creationId xmlns:p14="http://schemas.microsoft.com/office/powerpoint/2010/main" val="260704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 animBg="1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A9DA-BB38-CE56-0DA6-C9606CDC1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274640"/>
            <a:ext cx="9956801" cy="756991"/>
          </a:xfrm>
        </p:spPr>
        <p:txBody>
          <a:bodyPr/>
          <a:lstStyle/>
          <a:p>
            <a:r>
              <a:rPr lang="es-ES" dirty="0"/>
              <a:t>TU TURNO: Breve descripción del proyecto (1 diapositiva de viñetas)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9AD40-BA1D-FC48-02D3-E7EE40424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C260-207A-F177-3888-EB0D3B6015AC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225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9C18-3BF0-B70B-D217-C2651B02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47" y="-39809"/>
            <a:ext cx="9956801" cy="628897"/>
          </a:xfrm>
        </p:spPr>
        <p:txBody>
          <a:bodyPr/>
          <a:lstStyle/>
          <a:p>
            <a:r>
              <a:rPr lang="es-ES" dirty="0"/>
              <a:t>TU TURNO: Teoría del Cambio de tu proyecto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DD259-90BC-4C71-D8D1-13A3377974B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16</a:t>
            </a:fld>
            <a:endParaRPr lang="es-ES"/>
          </a:p>
        </p:txBody>
      </p: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EF3C20C4-F9C8-8ACE-BC70-F8B520803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24277"/>
              </p:ext>
            </p:extLst>
          </p:nvPr>
        </p:nvGraphicFramePr>
        <p:xfrm>
          <a:off x="281355" y="1453541"/>
          <a:ext cx="1137013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72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3046303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845053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695055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369820">
                <a:tc>
                  <a:txBody>
                    <a:bodyPr/>
                    <a:lstStyle/>
                    <a:p>
                      <a:pPr marL="228600" marR="0" lvl="0" indent="-2286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Promulgar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conversaciones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con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terriotorios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la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definición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iniciativas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Identificar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necesidades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mediante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estudio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campo.</a:t>
                      </a:r>
                    </a:p>
                    <a:p>
                      <a:pPr marL="228600" marR="0" lvl="0" indent="-2286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Diseñar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capacitaciones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turismo territorial.</a:t>
                      </a:r>
                    </a:p>
                    <a:p>
                      <a:pPr marL="228600" marR="0" lvl="0" indent="-2286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Recolectar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manera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sistemática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s-MX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Creación de una herramienta de medición para hacer seguimiento y evaluar los cambios en el territorio.</a:t>
                      </a: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Iniciativas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proyectos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turísticos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respondan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 las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necesidades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identificadas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conversaciones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Protocolo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estandarizar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recolección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Metodología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hacer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seguimiento</a:t>
                      </a: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Metodología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potenciar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gobernanza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territorial. </a:t>
                      </a:r>
                    </a:p>
                    <a:p>
                      <a:pPr marL="342900" marR="0" lvl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Reconocimiento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apropiación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territorio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fines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turisticos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Homogeneización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información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histórica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iniciativas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tratamiento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Cuantificación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gradual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avances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iniciales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desarrollo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sector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turístico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Fortalecimiento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capacidades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institucionales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sectoriales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comunitarias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direccionadas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 turismo.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Crecimiento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económico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municipio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derivado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turismo.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Diversificación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económica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sectores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productivos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Transparencia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rendición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cuentas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sector turismo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enfocado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municipios PDET.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Reconstrucción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tejido</a:t>
                      </a:r>
                      <a:r>
                        <a:rPr lang="en-US" sz="1250" b="0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social.</a:t>
                      </a: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25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aphicFrame>
        <p:nvGraphicFramePr>
          <p:cNvPr id="18" name="Table 40">
            <a:extLst>
              <a:ext uri="{FF2B5EF4-FFF2-40B4-BE49-F238E27FC236}">
                <a16:creationId xmlns:a16="http://schemas.microsoft.com/office/drawing/2014/main" id="{5404282F-5A0A-F80B-6EE3-95E016A74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088182"/>
              </p:ext>
            </p:extLst>
          </p:nvPr>
        </p:nvGraphicFramePr>
        <p:xfrm>
          <a:off x="961292" y="4213540"/>
          <a:ext cx="9877391" cy="2269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2380">
                  <a:extLst>
                    <a:ext uri="{9D8B030D-6E8A-4147-A177-3AD203B41FA5}">
                      <a16:colId xmlns:a16="http://schemas.microsoft.com/office/drawing/2014/main" val="4138414215"/>
                    </a:ext>
                  </a:extLst>
                </a:gridCol>
                <a:gridCol w="3968708">
                  <a:extLst>
                    <a:ext uri="{9D8B030D-6E8A-4147-A177-3AD203B41FA5}">
                      <a16:colId xmlns:a16="http://schemas.microsoft.com/office/drawing/2014/main" val="415880857"/>
                    </a:ext>
                  </a:extLst>
                </a:gridCol>
                <a:gridCol w="2916303">
                  <a:extLst>
                    <a:ext uri="{9D8B030D-6E8A-4147-A177-3AD203B41FA5}">
                      <a16:colId xmlns:a16="http://schemas.microsoft.com/office/drawing/2014/main" val="2656993752"/>
                    </a:ext>
                  </a:extLst>
                </a:gridCol>
              </a:tblGrid>
              <a:tr h="2269322">
                <a:tc>
                  <a:txBody>
                    <a:bodyPr/>
                    <a:lstStyle/>
                    <a:p>
                      <a:pPr marL="342900" marR="0" lvl="0" indent="-34290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5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Apropiación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comunitaria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municipios PDET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Planificación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presupuestal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levantamiento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información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5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Existe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consultora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hará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las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metodología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medición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potencialicen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gobernanza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territorial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Incrementar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planta de personal y las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capacidades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institucionales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entidades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acuerdo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al MFMP Y MGMP.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25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Hay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suficientes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recursos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para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financiar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refinanciar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proyectos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del pilar 6.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Existan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turistas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quieran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conocer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municipios PDET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Una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buena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infraestructura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vial para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motivar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conocer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5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los</a:t>
                      </a: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municipios.</a:t>
                      </a:r>
                    </a:p>
                    <a:p>
                      <a:pPr marL="342900" indent="-342900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25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22696"/>
                  </a:ext>
                </a:extLst>
              </a:tr>
            </a:tbl>
          </a:graphicData>
        </a:graphic>
      </p:graphicFrame>
      <p:sp>
        <p:nvSpPr>
          <p:cNvPr id="19" name="Arrow: Curved Up 18">
            <a:extLst>
              <a:ext uri="{FF2B5EF4-FFF2-40B4-BE49-F238E27FC236}">
                <a16:creationId xmlns:a16="http://schemas.microsoft.com/office/drawing/2014/main" id="{410916FA-5490-45ED-EDDC-0FB0EAF3E5A7}"/>
              </a:ext>
            </a:extLst>
          </p:cNvPr>
          <p:cNvSpPr/>
          <p:nvPr/>
        </p:nvSpPr>
        <p:spPr>
          <a:xfrm>
            <a:off x="8715068" y="3885712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932B5-047E-2459-45EE-CDBB67E29912}"/>
              </a:ext>
            </a:extLst>
          </p:cNvPr>
          <p:cNvSpPr txBox="1"/>
          <p:nvPr/>
        </p:nvSpPr>
        <p:spPr>
          <a:xfrm>
            <a:off x="63787" y="4687814"/>
            <a:ext cx="1014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400" b="1" dirty="0" err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Supuesto</a:t>
            </a:r>
            <a:endParaRPr lang="en-US" sz="2400" b="1" dirty="0">
              <a:solidFill>
                <a:srgbClr val="4472C4">
                  <a:lumMod val="75000"/>
                </a:srgbClr>
              </a:solidFill>
              <a:latin typeface="Calibri" panose="020F0502020204030204"/>
            </a:endParaRPr>
          </a:p>
        </p:txBody>
      </p:sp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A8FD951D-403E-6E29-F957-79CE4754FE4D}"/>
              </a:ext>
            </a:extLst>
          </p:cNvPr>
          <p:cNvSpPr/>
          <p:nvPr/>
        </p:nvSpPr>
        <p:spPr>
          <a:xfrm>
            <a:off x="2640068" y="390000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72031D69-1202-F5A0-A95E-66B6B25CA3A7}"/>
              </a:ext>
            </a:extLst>
          </p:cNvPr>
          <p:cNvSpPr/>
          <p:nvPr/>
        </p:nvSpPr>
        <p:spPr>
          <a:xfrm>
            <a:off x="5677568" y="3900000"/>
            <a:ext cx="939814" cy="27699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A1E99F-A918-4408-66EB-9D0A2E5079A1}"/>
              </a:ext>
            </a:extLst>
          </p:cNvPr>
          <p:cNvGrpSpPr/>
          <p:nvPr/>
        </p:nvGrpSpPr>
        <p:grpSpPr>
          <a:xfrm>
            <a:off x="961292" y="606310"/>
            <a:ext cx="9683262" cy="787814"/>
            <a:chOff x="1625596" y="962318"/>
            <a:chExt cx="7693272" cy="5480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BE378A4-5389-3CC0-F579-9EBB48CF195B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34" name="Arrow: Chevron 33">
                <a:extLst>
                  <a:ext uri="{FF2B5EF4-FFF2-40B4-BE49-F238E27FC236}">
                    <a16:creationId xmlns:a16="http://schemas.microsoft.com/office/drawing/2014/main" id="{DBA1859D-61EB-2D21-70A4-5B80181A0CBB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Arrow: Chevron 6">
                <a:extLst>
                  <a:ext uri="{FF2B5EF4-FFF2-40B4-BE49-F238E27FC236}">
                    <a16:creationId xmlns:a16="http://schemas.microsoft.com/office/drawing/2014/main" id="{CBD94CFA-321E-3F40-D802-1B493980067E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C2F9530-EC68-BCF9-910A-CD2DA210E9E2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3C65E9BE-5D40-28AD-FF54-4825F3DCCAED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Arrow: Chevron 12">
                <a:extLst>
                  <a:ext uri="{FF2B5EF4-FFF2-40B4-BE49-F238E27FC236}">
                    <a16:creationId xmlns:a16="http://schemas.microsoft.com/office/drawing/2014/main" id="{B559D16C-C61C-EB44-08FD-1C30CE1CAB17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0939A4C-8CF2-ABC6-8CA1-D61E7C32D818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134D0BE2-2E2F-3C74-9EFB-B66C6A93B3ED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Arrow: Chevron 8">
                <a:extLst>
                  <a:ext uri="{FF2B5EF4-FFF2-40B4-BE49-F238E27FC236}">
                    <a16:creationId xmlns:a16="http://schemas.microsoft.com/office/drawing/2014/main" id="{B96DB984-0F77-75D5-6B92-5D6EDA4DC1B5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1781497-FA8E-39B6-1A22-D6406127792C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9DC1B2B6-585F-178B-AA84-F96408943CC5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Arrow: Chevron 10">
                <a:extLst>
                  <a:ext uri="{FF2B5EF4-FFF2-40B4-BE49-F238E27FC236}">
                    <a16:creationId xmlns:a16="http://schemas.microsoft.com/office/drawing/2014/main" id="{C9BEC860-E0CF-4421-CB19-FC777D883E99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631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9C18-3BF0-B70B-D217-C2651B02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747" y="-39809"/>
            <a:ext cx="9956801" cy="628897"/>
          </a:xfrm>
        </p:spPr>
        <p:txBody>
          <a:bodyPr/>
          <a:lstStyle/>
          <a:p>
            <a:r>
              <a:rPr lang="en-US" dirty="0"/>
              <a:t>YOUR TURN: Theory of Change of your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DD259-90BC-4C71-D8D1-13A3377974B6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17</a:t>
            </a:fld>
            <a:endParaRPr lang="es-ES"/>
          </a:p>
        </p:txBody>
      </p:sp>
      <p:graphicFrame>
        <p:nvGraphicFramePr>
          <p:cNvPr id="17" name="Table 29">
            <a:extLst>
              <a:ext uri="{FF2B5EF4-FFF2-40B4-BE49-F238E27FC236}">
                <a16:creationId xmlns:a16="http://schemas.microsoft.com/office/drawing/2014/main" id="{EF3C20C4-F9C8-8ACE-BC70-F8B5208036C1}"/>
              </a:ext>
            </a:extLst>
          </p:cNvPr>
          <p:cNvGraphicFramePr>
            <a:graphicFrameLocks noGrp="1"/>
          </p:cNvGraphicFramePr>
          <p:nvPr/>
        </p:nvGraphicFramePr>
        <p:xfrm>
          <a:off x="281355" y="1453541"/>
          <a:ext cx="11370131" cy="236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720">
                  <a:extLst>
                    <a:ext uri="{9D8B030D-6E8A-4147-A177-3AD203B41FA5}">
                      <a16:colId xmlns:a16="http://schemas.microsoft.com/office/drawing/2014/main" val="2510404603"/>
                    </a:ext>
                  </a:extLst>
                </a:gridCol>
                <a:gridCol w="3046303">
                  <a:extLst>
                    <a:ext uri="{9D8B030D-6E8A-4147-A177-3AD203B41FA5}">
                      <a16:colId xmlns:a16="http://schemas.microsoft.com/office/drawing/2014/main" val="2233915305"/>
                    </a:ext>
                  </a:extLst>
                </a:gridCol>
                <a:gridCol w="2845053">
                  <a:extLst>
                    <a:ext uri="{9D8B030D-6E8A-4147-A177-3AD203B41FA5}">
                      <a16:colId xmlns:a16="http://schemas.microsoft.com/office/drawing/2014/main" val="188902734"/>
                    </a:ext>
                  </a:extLst>
                </a:gridCol>
                <a:gridCol w="2695055">
                  <a:extLst>
                    <a:ext uri="{9D8B030D-6E8A-4147-A177-3AD203B41FA5}">
                      <a16:colId xmlns:a16="http://schemas.microsoft.com/office/drawing/2014/main" val="348728286"/>
                    </a:ext>
                  </a:extLst>
                </a:gridCol>
              </a:tblGrid>
              <a:tr h="2369820">
                <a:tc>
                  <a:txBody>
                    <a:bodyPr/>
                    <a:lstStyle/>
                    <a:p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noProof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14997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92A1E99F-A918-4408-66EB-9D0A2E5079A1}"/>
              </a:ext>
            </a:extLst>
          </p:cNvPr>
          <p:cNvGrpSpPr/>
          <p:nvPr/>
        </p:nvGrpSpPr>
        <p:grpSpPr>
          <a:xfrm>
            <a:off x="961292" y="606310"/>
            <a:ext cx="9683262" cy="787814"/>
            <a:chOff x="1625596" y="962318"/>
            <a:chExt cx="7693272" cy="54805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BE378A4-5389-3CC0-F579-9EBB48CF195B}"/>
                </a:ext>
              </a:extLst>
            </p:cNvPr>
            <p:cNvGrpSpPr/>
            <p:nvPr/>
          </p:nvGrpSpPr>
          <p:grpSpPr>
            <a:xfrm>
              <a:off x="1625596" y="962730"/>
              <a:ext cx="1673099" cy="533999"/>
              <a:chOff x="302556" y="2346187"/>
              <a:chExt cx="1766093" cy="711999"/>
            </a:xfrm>
            <a:solidFill>
              <a:srgbClr val="00B0F0"/>
            </a:solidFill>
          </p:grpSpPr>
          <p:sp>
            <p:nvSpPr>
              <p:cNvPr id="34" name="Arrow: Chevron 33">
                <a:extLst>
                  <a:ext uri="{FF2B5EF4-FFF2-40B4-BE49-F238E27FC236}">
                    <a16:creationId xmlns:a16="http://schemas.microsoft.com/office/drawing/2014/main" id="{DBA1859D-61EB-2D21-70A4-5B80181A0CBB}"/>
                  </a:ext>
                </a:extLst>
              </p:cNvPr>
              <p:cNvSpPr/>
              <p:nvPr/>
            </p:nvSpPr>
            <p:spPr>
              <a:xfrm>
                <a:off x="302556" y="2346187"/>
                <a:ext cx="1766093" cy="706438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Arrow: Chevron 6">
                <a:extLst>
                  <a:ext uri="{FF2B5EF4-FFF2-40B4-BE49-F238E27FC236}">
                    <a16:creationId xmlns:a16="http://schemas.microsoft.com/office/drawing/2014/main" id="{CBD94CFA-321E-3F40-D802-1B493980067E}"/>
                  </a:ext>
                </a:extLst>
              </p:cNvPr>
              <p:cNvSpPr txBox="1"/>
              <p:nvPr/>
            </p:nvSpPr>
            <p:spPr>
              <a:xfrm>
                <a:off x="585691" y="2351749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Activities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C2F9530-EC68-BCF9-910A-CD2DA210E9E2}"/>
                </a:ext>
              </a:extLst>
            </p:cNvPr>
            <p:cNvGrpSpPr/>
            <p:nvPr/>
          </p:nvGrpSpPr>
          <p:grpSpPr>
            <a:xfrm>
              <a:off x="7771201" y="980548"/>
              <a:ext cx="1547667" cy="529828"/>
              <a:chOff x="6359921" y="2356114"/>
              <a:chExt cx="1766093" cy="706437"/>
            </a:xfrm>
            <a:solidFill>
              <a:srgbClr val="00B0F0"/>
            </a:solidFill>
          </p:grpSpPr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3C65E9BE-5D40-28AD-FF54-4825F3DCCAED}"/>
                  </a:ext>
                </a:extLst>
              </p:cNvPr>
              <p:cNvSpPr/>
              <p:nvPr/>
            </p:nvSpPr>
            <p:spPr>
              <a:xfrm>
                <a:off x="6359921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Arrow: Chevron 12">
                <a:extLst>
                  <a:ext uri="{FF2B5EF4-FFF2-40B4-BE49-F238E27FC236}">
                    <a16:creationId xmlns:a16="http://schemas.microsoft.com/office/drawing/2014/main" id="{B559D16C-C61C-EB44-08FD-1C30CE1CAB17}"/>
                  </a:ext>
                </a:extLst>
              </p:cNvPr>
              <p:cNvSpPr txBox="1"/>
              <p:nvPr/>
            </p:nvSpPr>
            <p:spPr>
              <a:xfrm>
                <a:off x="6713140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Impact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0939A4C-8CF2-ABC6-8CA1-D61E7C32D818}"/>
                </a:ext>
              </a:extLst>
            </p:cNvPr>
            <p:cNvGrpSpPr/>
            <p:nvPr/>
          </p:nvGrpSpPr>
          <p:grpSpPr>
            <a:xfrm>
              <a:off x="3666366" y="962318"/>
              <a:ext cx="1703534" cy="529828"/>
              <a:chOff x="3180953" y="2356114"/>
              <a:chExt cx="1766093" cy="706437"/>
            </a:xfrm>
            <a:solidFill>
              <a:srgbClr val="00B0F0"/>
            </a:solidFill>
          </p:grpSpPr>
          <p:sp>
            <p:nvSpPr>
              <p:cNvPr id="30" name="Arrow: Chevron 29">
                <a:extLst>
                  <a:ext uri="{FF2B5EF4-FFF2-40B4-BE49-F238E27FC236}">
                    <a16:creationId xmlns:a16="http://schemas.microsoft.com/office/drawing/2014/main" id="{134D0BE2-2E2F-3C74-9EFB-B66C6A93B3ED}"/>
                  </a:ext>
                </a:extLst>
              </p:cNvPr>
              <p:cNvSpPr/>
              <p:nvPr/>
            </p:nvSpPr>
            <p:spPr>
              <a:xfrm>
                <a:off x="3180953" y="2356114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Arrow: Chevron 8">
                <a:extLst>
                  <a:ext uri="{FF2B5EF4-FFF2-40B4-BE49-F238E27FC236}">
                    <a16:creationId xmlns:a16="http://schemas.microsoft.com/office/drawing/2014/main" id="{B96DB984-0F77-75D5-6B92-5D6EDA4DC1B5}"/>
                  </a:ext>
                </a:extLst>
              </p:cNvPr>
              <p:cNvSpPr txBox="1"/>
              <p:nvPr/>
            </p:nvSpPr>
            <p:spPr>
              <a:xfrm>
                <a:off x="3534172" y="2356114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 dirty="0">
                    <a:solidFill>
                      <a:prstClr val="white"/>
                    </a:solidFill>
                    <a:latin typeface="Calibri" panose="020F0502020204030204"/>
                  </a:rPr>
                  <a:t>Output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1781497-FA8E-39B6-1A22-D6406127792C}"/>
                </a:ext>
              </a:extLst>
            </p:cNvPr>
            <p:cNvGrpSpPr/>
            <p:nvPr/>
          </p:nvGrpSpPr>
          <p:grpSpPr>
            <a:xfrm>
              <a:off x="5699996" y="973493"/>
              <a:ext cx="1944743" cy="529828"/>
              <a:chOff x="4940157" y="1198432"/>
              <a:chExt cx="1766093" cy="706437"/>
            </a:xfrm>
            <a:solidFill>
              <a:srgbClr val="00B0F0"/>
            </a:solidFill>
          </p:grpSpPr>
          <p:sp>
            <p:nvSpPr>
              <p:cNvPr id="28" name="Arrow: Chevron 27">
                <a:extLst>
                  <a:ext uri="{FF2B5EF4-FFF2-40B4-BE49-F238E27FC236}">
                    <a16:creationId xmlns:a16="http://schemas.microsoft.com/office/drawing/2014/main" id="{9DC1B2B6-585F-178B-AA84-F96408943CC5}"/>
                  </a:ext>
                </a:extLst>
              </p:cNvPr>
              <p:cNvSpPr/>
              <p:nvPr/>
            </p:nvSpPr>
            <p:spPr>
              <a:xfrm>
                <a:off x="4940157" y="1198432"/>
                <a:ext cx="1766093" cy="706437"/>
              </a:xfrm>
              <a:prstGeom prst="chevron">
                <a:avLst/>
              </a:prstGeom>
              <a:grpFill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Arrow: Chevron 10">
                <a:extLst>
                  <a:ext uri="{FF2B5EF4-FFF2-40B4-BE49-F238E27FC236}">
                    <a16:creationId xmlns:a16="http://schemas.microsoft.com/office/drawing/2014/main" id="{C9BEC860-E0CF-4421-CB19-FC777D883E99}"/>
                  </a:ext>
                </a:extLst>
              </p:cNvPr>
              <p:cNvSpPr txBox="1"/>
              <p:nvPr/>
            </p:nvSpPr>
            <p:spPr>
              <a:xfrm>
                <a:off x="5293376" y="1198432"/>
                <a:ext cx="1059656" cy="706437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1007" tIns="17003" rIns="17003" bIns="17003" numCol="1" spcCol="1270" anchor="ctr" anchorCtr="0">
                <a:noAutofit/>
              </a:bodyPr>
              <a:lstStyle/>
              <a:p>
                <a:pPr algn="ctr" defTabSz="566738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b="1">
                    <a:solidFill>
                      <a:prstClr val="white"/>
                    </a:solidFill>
                    <a:latin typeface="Calibri" panose="020F0502020204030204"/>
                  </a:rPr>
                  <a:t>Outcome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5FB263-5B30-BAD2-F8D6-B62A3D3CF21E}"/>
              </a:ext>
            </a:extLst>
          </p:cNvPr>
          <p:cNvSpPr txBox="1"/>
          <p:nvPr/>
        </p:nvSpPr>
        <p:spPr>
          <a:xfrm>
            <a:off x="167124" y="4162711"/>
            <a:ext cx="169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2000" b="1" dirty="0">
                <a:solidFill>
                  <a:srgbClr val="00B050"/>
                </a:solidFill>
              </a:rPr>
              <a:t>INDICADORES</a:t>
            </a:r>
            <a:endParaRPr lang="en-US" sz="2000" b="1" dirty="0">
              <a:solidFill>
                <a:srgbClr val="00B05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9032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5C83-B932-DEE1-C069-5405853C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Riesgos y estrategias de mitigación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6D2D1-00CF-4442-255E-2CA47529D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 completar si tiene tiempo para llegar a esta parte.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9AD7E-8928-8ACF-15CF-DF4635D1EADB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5038240A-9816-4AC4-8056-C99BBEDE9E36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3417509"/>
      </p:ext>
    </p:extLst>
  </p:cSld>
  <p:clrMapOvr>
    <a:masterClrMapping/>
  </p:clrMapOvr>
</p:sld>
</file>

<file path=ppt/theme/theme1.xml><?xml version="1.0" encoding="utf-8"?>
<a:theme xmlns:a="http://schemas.openxmlformats.org/drawingml/2006/main" name="Ori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</TotalTime>
  <Words>2016</Words>
  <Application>Microsoft Office PowerPoint</Application>
  <PresentationFormat>Panorámica</PresentationFormat>
  <Paragraphs>269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Schoolbook</vt:lpstr>
      <vt:lpstr>Times</vt:lpstr>
      <vt:lpstr>Times New Roman</vt:lpstr>
      <vt:lpstr>Wingdings</vt:lpstr>
      <vt:lpstr>Wingdings 2</vt:lpstr>
      <vt:lpstr>Oriel</vt:lpstr>
      <vt:lpstr>Teoría del cambio</vt:lpstr>
      <vt:lpstr>¿Cómo se ve una Teoría del Cambio?</vt:lpstr>
      <vt:lpstr>¿Por qué hacer una Teoría del Cambio?</vt:lpstr>
      <vt:lpstr>Where should I start from? (my preference)</vt:lpstr>
      <vt:lpstr>Application to a Customs Reform in Colombia</vt:lpstr>
      <vt:lpstr>Un ejemplo sencillo de TdC: Informatización de las Transacciones de Importación en Colombia</vt:lpstr>
      <vt:lpstr>¿Cómo la TdC alimenta su evaluación de impacto?</vt:lpstr>
      <vt:lpstr>Un ejemplo sencillo de TdC: Informatización de las Transacciones de Importación en Colombia</vt:lpstr>
      <vt:lpstr>A simple example of Theory of Change: Computerization of Import Transactions in Colombia</vt:lpstr>
      <vt:lpstr>Estrategias de mitigación (en el diseño del proyecto)</vt:lpstr>
      <vt:lpstr>2ª Aplicación: Index based Livestock Insurance (IBLI)</vt:lpstr>
      <vt:lpstr>Theory of Change applied to the IBLI</vt:lpstr>
      <vt:lpstr>Theory of Change applied to the IBLI</vt:lpstr>
      <vt:lpstr>Theory of Change applied to the IBLI</vt:lpstr>
      <vt:lpstr>TU TURNO: Breve descripción del proyecto (1 diapositiva de viñetas)</vt:lpstr>
      <vt:lpstr>TU TURNO: Teoría del Cambio de tu proyecto</vt:lpstr>
      <vt:lpstr>YOUR TURN: Theory of Change of your project</vt:lpstr>
      <vt:lpstr>Riesgos y estrategias de mitigación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Capital</dc:title>
  <dc:creator>Rachid Laajaj</dc:creator>
  <cp:lastModifiedBy>Laura Sarif Rivera Sanabria</cp:lastModifiedBy>
  <cp:revision>40</cp:revision>
  <dcterms:created xsi:type="dcterms:W3CDTF">2022-02-21T13:20:30Z</dcterms:created>
  <dcterms:modified xsi:type="dcterms:W3CDTF">2025-10-21T01:40:56Z</dcterms:modified>
</cp:coreProperties>
</file>